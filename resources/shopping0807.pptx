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8c73ed85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8c73ed85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8c73ed8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68c73ed8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8c73ed8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68c73ed8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8c73ed8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8c73ed8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8c73ed85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68c73ed85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8c73ed8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8c73ed8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8c73ed85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8c73ed85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8c73ed85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68c73ed85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8c73ed85_0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68c73ed85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8c73ed85_0_1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68c73ed85_0_1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8c73ed85_0_1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68c73ed85_0_1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68c73ed85_0_1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68c73ed85_0_1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8c73ed85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68c73ed85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8c73ed85_0_1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68c73ed85_0_1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8c73ed85_0_1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68c73ed85_0_1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8c73ed85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68c73ed85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68c73ed85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68c73ed85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68c73ed85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68c73ed85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68c73ed85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68c73ed85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68c73ed85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68c73ed85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68c73ed8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f68c73ed8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68c73ed85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68c73ed85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68c73ed85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68c73ed85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68c73ed85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f68c73ed85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68c73ed85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68c73ed85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68c73ed85_0_1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f68c73ed85_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68c73ed85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68c73ed85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68c73ed85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f68c73ed85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68c73ed85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68c73ed85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f68c73ed85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f68c73ed85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f68c73ed85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f68c73ed85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68c73ed85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f68c73ed85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f68c73ed85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f68c73ed85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68c73ed85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f68c73ed85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f68c73ed85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f68c73ed85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f68c73ed85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f68c73ed85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68c73ed85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f68c73ed85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f68c73ed85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f68c73ed85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68c73ed85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f68c73ed85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f68c73ed85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f68c73ed85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10.png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11" Type="http://schemas.openxmlformats.org/officeDocument/2006/relationships/image" Target="../media/image8.png"/><Relationship Id="rId10" Type="http://schemas.openxmlformats.org/officeDocument/2006/relationships/image" Target="../media/image21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10" Type="http://schemas.openxmlformats.org/officeDocument/2006/relationships/image" Target="../media/image4.png"/><Relationship Id="rId9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10" Type="http://schemas.openxmlformats.org/officeDocument/2006/relationships/image" Target="../media/image23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23.png"/><Relationship Id="rId13" Type="http://schemas.openxmlformats.org/officeDocument/2006/relationships/image" Target="../media/image24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24.png"/><Relationship Id="rId13" Type="http://schemas.openxmlformats.org/officeDocument/2006/relationships/image" Target="../media/image25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0" y="2121750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界面总览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176925" y="4265875"/>
            <a:ext cx="189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下方是物品卡牌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26500" y="2333725"/>
            <a:ext cx="189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左侧：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委托的条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钱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下一天按钮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/>
              <a:t>下一天</a:t>
            </a:r>
            <a:endParaRPr b="1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606000" y="0"/>
            <a:ext cx="649800" cy="5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5976" y="51600"/>
            <a:ext cx="489850" cy="4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7255800" y="0"/>
            <a:ext cx="17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薯条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255800" y="220875"/>
            <a:ext cx="17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金黄酥脆，仅限出锅的前五分钟。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675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727197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0950" y="7057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7721250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8236" y="673699"/>
            <a:ext cx="273528" cy="2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8028750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176925" y="4265875"/>
            <a:ext cx="189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点击物品卡牌，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右上角出现说明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606000" y="0"/>
            <a:ext cx="649800" cy="5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5976" y="51600"/>
            <a:ext cx="489850" cy="4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255800" y="0"/>
            <a:ext cx="17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薯条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255800" y="220875"/>
            <a:ext cx="17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金黄酥脆，仅限出锅的</a:t>
            </a:r>
            <a:r>
              <a:rPr lang="zh-CN" sz="800">
                <a:solidFill>
                  <a:schemeClr val="lt1"/>
                </a:solidFill>
              </a:rPr>
              <a:t>前</a:t>
            </a:r>
            <a:r>
              <a:rPr lang="zh-CN" sz="800">
                <a:solidFill>
                  <a:schemeClr val="lt1"/>
                </a:solidFill>
              </a:rPr>
              <a:t>五分钟。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675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27197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0950" y="7057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7721250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8236" y="673699"/>
            <a:ext cx="273528" cy="2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028750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606000" y="995125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606000" y="995125"/>
            <a:ext cx="649800" cy="5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0050" y="1079475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303500" y="1026400"/>
            <a:ext cx="17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枕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7303500" y="1344175"/>
            <a:ext cx="175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凉爽的鹅绒被，床头的薰衣草，天明前的片刻慰藉。[夜之准则，与安逸、感官享受有关]</a:t>
            </a:r>
            <a:endParaRPr sz="800">
              <a:solidFill>
                <a:schemeClr val="lt1"/>
              </a:solidFill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54263" y="824562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906200" y="96097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176925" y="4265875"/>
            <a:ext cx="189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说明框的属性icon，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chemeClr val="lt1"/>
                </a:solidFill>
              </a:rPr>
              <a:t>再点击有进一步说明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4938925" y="2152975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委托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157" name="Google Shape;157;p18"/>
          <p:cNvSpPr txBox="1"/>
          <p:nvPr/>
        </p:nvSpPr>
        <p:spPr>
          <a:xfrm>
            <a:off x="4328550" y="837150"/>
            <a:ext cx="23196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小女孩的委托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347525" y="1365250"/>
            <a:ext cx="40167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亲爱的购物员：这几天他们送来的都是卷心菜，我真的受够了。请帮我带点吃的，什么都行！（最好是咸味的）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954775" y="2269450"/>
            <a:ext cx="800100" cy="91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207050" y="730525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8043525" y="1638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26500" y="2667075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点击委托出现popup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178" name="Google Shape;178;p19"/>
          <p:cNvSpPr txBox="1"/>
          <p:nvPr/>
        </p:nvSpPr>
        <p:spPr>
          <a:xfrm>
            <a:off x="4328550" y="837150"/>
            <a:ext cx="23196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小女孩的委托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3347525" y="1365250"/>
            <a:ext cx="40167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亲爱的购物员：这几天他们送来的都是卷心菜，我真的受够了。请帮我带点吃的，什么都行！（最好是咸味的）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954775" y="2269450"/>
            <a:ext cx="800100" cy="91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207050" y="730525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0274" y="2992129"/>
            <a:ext cx="306701" cy="30747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37925" y="0"/>
            <a:ext cx="23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</a:rPr>
              <a:t>需要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043525" y="1638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000">
                <a:solidFill>
                  <a:schemeClr val="lt1"/>
                </a:solidFill>
              </a:rPr>
              <a:t>*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693713" y="305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2700" y="354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title="money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26050" y="705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10711" y="673699"/>
            <a:ext cx="273528" cy="2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2950925" y="4224600"/>
            <a:ext cx="489900" cy="918900"/>
          </a:xfrm>
          <a:prstGeom prst="rect">
            <a:avLst/>
          </a:prstGeom>
          <a:solidFill>
            <a:srgbClr val="FFFFFF">
              <a:alpha val="2278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2489525" y="3711775"/>
            <a:ext cx="174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点击物品框，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符合条件的</a:t>
            </a:r>
            <a:r>
              <a:rPr lang="zh-CN" sz="1200">
                <a:solidFill>
                  <a:schemeClr val="lt1"/>
                </a:solidFill>
              </a:rPr>
              <a:t>物品</a:t>
            </a:r>
            <a:r>
              <a:rPr lang="zh-CN" sz="1200">
                <a:solidFill>
                  <a:schemeClr val="lt1"/>
                </a:solidFill>
              </a:rPr>
              <a:t>外发光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536575" y="1365250"/>
            <a:ext cx="164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点击物品框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右上出现需求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830950" y="505625"/>
            <a:ext cx="132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必须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若满足额外给钱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209" name="Google Shape;209;p20"/>
          <p:cNvSpPr txBox="1"/>
          <p:nvPr/>
        </p:nvSpPr>
        <p:spPr>
          <a:xfrm>
            <a:off x="4328550" y="837150"/>
            <a:ext cx="23196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小女孩的委托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347525" y="1365250"/>
            <a:ext cx="40167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亲爱的购物员：这几天他们送来的都是卷心菜，我真的受够了。请帮我带点吃的，什么都行！（最好是咸味的）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954775" y="2269450"/>
            <a:ext cx="800100" cy="91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207050" y="730525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8043525" y="1638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954775" y="226945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4900" y="231072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4896638" y="3188350"/>
            <a:ext cx="918486" cy="401112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确认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2489525" y="3711775"/>
            <a:ext cx="174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拖动放置卡牌，满足条件的才能放入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7649" y="3404304"/>
            <a:ext cx="306701" cy="307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rgbClr val="B7B7B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207050" y="730525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043525" y="1638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466250" y="698725"/>
            <a:ext cx="1913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已完成委托用颜色区分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再次点击也有popup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但不能更换物品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/>
        </p:nvSpPr>
        <p:spPr>
          <a:xfrm>
            <a:off x="4938925" y="2152975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解锁店铺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3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3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21250" y="2739587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274" name="Google Shape;274;p24"/>
          <p:cNvSpPr txBox="1"/>
          <p:nvPr/>
        </p:nvSpPr>
        <p:spPr>
          <a:xfrm>
            <a:off x="4696100" y="837138"/>
            <a:ext cx="14493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唱片店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3347525" y="1365250"/>
            <a:ext cx="40167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红色天鹅绒窗帘透出留声机的影子。听说店主对人毫无耐心，但拿着花束的人除外。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954775" y="2167638"/>
            <a:ext cx="802200" cy="91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7198150" y="708650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78" name="Google Shape;27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525" y="289032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7536575" y="2301450"/>
            <a:ext cx="191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点击锁定的店铺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出现popup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钱：10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296" name="Google Shape;296;p25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4696100" y="837138"/>
            <a:ext cx="14493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唱片店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3347525" y="1365250"/>
            <a:ext cx="40167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红色天鹅绒窗帘透出留声机的影子。听说店主对人毫无耐心，但拿着花束的人除外。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4954775" y="2167638"/>
            <a:ext cx="802200" cy="91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7198150" y="708650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301" name="Google Shape;30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525" y="289032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6637925" y="0"/>
            <a:ext cx="230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</a:rPr>
              <a:t>需要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6693725" y="305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733412" y="345412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8043525" y="1638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000">
                <a:solidFill>
                  <a:schemeClr val="lt1"/>
                </a:solidFill>
              </a:rPr>
              <a:t>*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8043525" y="613225"/>
            <a:ext cx="441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700">
                <a:solidFill>
                  <a:schemeClr val="lt1"/>
                </a:solidFill>
              </a:rPr>
              <a:t>√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33400" y="696412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/>
          <p:nvPr/>
        </p:nvSpPr>
        <p:spPr>
          <a:xfrm>
            <a:off x="7155900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5588" y="696412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3" name="Google Shape;313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3175175" y="3896575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符合条件的卡外发光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3428200" y="4224600"/>
            <a:ext cx="689700" cy="918900"/>
          </a:xfrm>
          <a:prstGeom prst="rect">
            <a:avLst/>
          </a:prstGeom>
          <a:solidFill>
            <a:srgbClr val="FFFFFF">
              <a:alpha val="2278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6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钱：10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6"/>
          </a:p>
        </p:txBody>
      </p:sp>
      <p:sp>
        <p:nvSpPr>
          <p:cNvPr id="330" name="Google Shape;330;p26"/>
          <p:cNvSpPr txBox="1"/>
          <p:nvPr/>
        </p:nvSpPr>
        <p:spPr>
          <a:xfrm>
            <a:off x="4696100" y="837138"/>
            <a:ext cx="14493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2">
                <a:solidFill>
                  <a:schemeClr val="dk2"/>
                </a:solidFill>
              </a:rPr>
              <a:t>唱片店</a:t>
            </a:r>
            <a:endParaRPr sz="2502">
              <a:solidFill>
                <a:schemeClr val="dk2"/>
              </a:solidFill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3347525" y="1365250"/>
            <a:ext cx="40167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2">
                <a:solidFill>
                  <a:schemeClr val="dk2"/>
                </a:solidFill>
              </a:rPr>
              <a:t>红色天鹅绒窗帘透出留声机的影子。听说店主对人毫无耐心，但拿着花束的人除外。</a:t>
            </a:r>
            <a:endParaRPr sz="1402">
              <a:solidFill>
                <a:schemeClr val="dk2"/>
              </a:solidFill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4954775" y="2167638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7198150" y="708650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334" name="Google Shape;33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5375" y="2254800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/>
          <p:nvPr/>
        </p:nvSpPr>
        <p:spPr>
          <a:xfrm>
            <a:off x="4896625" y="3141650"/>
            <a:ext cx="918486" cy="401112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确认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5494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7" name="Google Shape;33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9575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38900" y="3397800"/>
            <a:ext cx="307475" cy="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7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钱：10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7198150" y="708650"/>
            <a:ext cx="4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dk2"/>
                </a:solidFill>
              </a:rPr>
              <a:t>X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35494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1" name="Google Shape;3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575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7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7748" y="-93712"/>
            <a:ext cx="7576252" cy="426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7" title="bag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6374" y="476825"/>
            <a:ext cx="1874500" cy="36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/>
          <p:nvPr/>
        </p:nvSpPr>
        <p:spPr>
          <a:xfrm>
            <a:off x="3718750" y="34290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3848200" y="3513550"/>
            <a:ext cx="362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2"/>
                </a:solidFill>
              </a:rPr>
              <a:t>我没见过你……有什么事吗？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359" name="Google Shape;359;p27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360" name="Google Shape;360;p27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361" name="Google Shape;361;p27"/>
          <p:cNvSpPr txBox="1"/>
          <p:nvPr/>
        </p:nvSpPr>
        <p:spPr>
          <a:xfrm>
            <a:off x="3505225" y="2819725"/>
            <a:ext cx="34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第一次解锁后，直接进入店铺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8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8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369" name="Google Shape;369;p28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钱：10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28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28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8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80" name="Google Shape;380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8"/>
          <p:cNvSpPr/>
          <p:nvPr/>
        </p:nvSpPr>
        <p:spPr>
          <a:xfrm>
            <a:off x="360257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28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6572525" y="2421375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8"/>
          <p:cNvSpPr txBox="1"/>
          <p:nvPr/>
        </p:nvSpPr>
        <p:spPr>
          <a:xfrm>
            <a:off x="6345850" y="2945525"/>
            <a:ext cx="15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已解锁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 txBox="1"/>
          <p:nvPr/>
        </p:nvSpPr>
        <p:spPr>
          <a:xfrm>
            <a:off x="4938925" y="2152975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店铺</a:t>
            </a:r>
            <a:r>
              <a:rPr lang="zh-CN" sz="1800">
                <a:solidFill>
                  <a:schemeClr val="lt1"/>
                </a:solidFill>
              </a:rPr>
              <a:t>内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0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0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0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0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30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0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0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8" name="Google Shape;40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0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3225" y="2638087"/>
            <a:ext cx="307475" cy="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17" name="Google Shape;4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1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421" name="Google Shape;421;p31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422" name="Google Shape;422;p31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423" name="Google Shape;423;p31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424" name="Google Shape;424;p31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1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1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5392700" y="3541175"/>
            <a:ext cx="107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欢迎……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430" name="Google Shape;430;p31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431" name="Google Shape;431;p31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pic>
        <p:nvPicPr>
          <p:cNvPr id="432" name="Google Shape;43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58575" y="1330887"/>
            <a:ext cx="307475" cy="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38" name="Google Shape;43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2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2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442" name="Google Shape;442;p32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444" name="Google Shape;444;p32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445" name="Google Shape;445;p32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2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2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5392700" y="3541175"/>
            <a:ext cx="107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欢迎……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2168900" y="692400"/>
            <a:ext cx="3287400" cy="21897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2378200" y="8130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52" name="Google Shape;45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58775" y="903200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3540700" y="8130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龙舌兰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5148800" y="692400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2481650" y="1813838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10元</a:t>
            </a:r>
            <a:endParaRPr sz="1000"/>
          </a:p>
        </p:txBody>
      </p:sp>
      <p:sp>
        <p:nvSpPr>
          <p:cNvPr id="456" name="Google Shape;456;p32"/>
          <p:cNvSpPr/>
          <p:nvPr/>
        </p:nvSpPr>
        <p:spPr>
          <a:xfrm>
            <a:off x="3644125" y="18138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2</a:t>
            </a:r>
            <a:r>
              <a:rPr lang="zh-CN" sz="1000"/>
              <a:t>0元</a:t>
            </a:r>
            <a:endParaRPr sz="1000"/>
          </a:p>
        </p:txBody>
      </p:sp>
      <p:pic>
        <p:nvPicPr>
          <p:cNvPr id="457" name="Google Shape;45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12925" y="8787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2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459" name="Google Shape;459;p32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460" name="Google Shape;460;p32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461" name="Google Shape;461;p32"/>
          <p:cNvSpPr txBox="1"/>
          <p:nvPr/>
        </p:nvSpPr>
        <p:spPr>
          <a:xfrm>
            <a:off x="2796950" y="2496400"/>
            <a:ext cx="34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点击打开货架，是popup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67" name="Google Shape;4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3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474" name="Google Shape;474;p33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3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3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3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想看……太阳……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2168900" y="692400"/>
            <a:ext cx="3287400" cy="21897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2378200" y="8130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1" name="Google Shape;481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58775" y="903200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/>
          <p:nvPr/>
        </p:nvSpPr>
        <p:spPr>
          <a:xfrm>
            <a:off x="3540700" y="8130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龙舌兰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5148800" y="692400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2481650" y="1813838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10元</a:t>
            </a:r>
            <a:endParaRPr sz="1000"/>
          </a:p>
        </p:txBody>
      </p:sp>
      <p:sp>
        <p:nvSpPr>
          <p:cNvPr id="485" name="Google Shape;485;p33"/>
          <p:cNvSpPr/>
          <p:nvPr/>
        </p:nvSpPr>
        <p:spPr>
          <a:xfrm>
            <a:off x="3644125" y="18138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20元</a:t>
            </a:r>
            <a:endParaRPr sz="1000"/>
          </a:p>
        </p:txBody>
      </p:sp>
      <p:pic>
        <p:nvPicPr>
          <p:cNvPr id="486" name="Google Shape;48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12925" y="8787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3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488" name="Google Shape;488;p33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489" name="Google Shape;489;p33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490" name="Google Shape;490;p33"/>
          <p:cNvSpPr/>
          <p:nvPr/>
        </p:nvSpPr>
        <p:spPr>
          <a:xfrm>
            <a:off x="2434425" y="813075"/>
            <a:ext cx="689700" cy="918900"/>
          </a:xfrm>
          <a:prstGeom prst="rect">
            <a:avLst/>
          </a:prstGeom>
          <a:solidFill>
            <a:srgbClr val="FFFFFF">
              <a:alpha val="2278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3810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p3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99775" y="1577412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5543300" y="39104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结账</a:t>
            </a:r>
            <a:endParaRPr sz="1000"/>
          </a:p>
        </p:txBody>
      </p:sp>
      <p:sp>
        <p:nvSpPr>
          <p:cNvPr id="493" name="Google Shape;493;p33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"/>
          <p:cNvSpPr/>
          <p:nvPr/>
        </p:nvSpPr>
        <p:spPr>
          <a:xfrm>
            <a:off x="6606000" y="0"/>
            <a:ext cx="649800" cy="5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7255800" y="0"/>
            <a:ext cx="17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向日葵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496" name="Google Shape;496;p33"/>
          <p:cNvSpPr txBox="1"/>
          <p:nvPr/>
        </p:nvSpPr>
        <p:spPr>
          <a:xfrm>
            <a:off x="7255800" y="220875"/>
            <a:ext cx="175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夜晚的向日葵，为一切不合时宜者绽放。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727197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501" name="Google Shape;501;p3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28783" y="691787"/>
            <a:ext cx="237375" cy="2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7311675" y="696400"/>
            <a:ext cx="228125" cy="2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0400" y="76050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3"/>
          <p:cNvSpPr txBox="1"/>
          <p:nvPr/>
        </p:nvSpPr>
        <p:spPr>
          <a:xfrm>
            <a:off x="4001313" y="2066663"/>
            <a:ext cx="344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点击物品，右上角出现属性介绍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对话框出现文案和结账按钮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再次点击物品取消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10" name="Google Shape;5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4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512" name="Google Shape;512;p34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514" name="Google Shape;514;p34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15" name="Google Shape;515;p34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4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4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4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谢谢……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2168900" y="692400"/>
            <a:ext cx="3287400" cy="21897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2435200" y="78475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龙舌兰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2" name="Google Shape;522;p34"/>
          <p:cNvSpPr txBox="1"/>
          <p:nvPr/>
        </p:nvSpPr>
        <p:spPr>
          <a:xfrm>
            <a:off x="5148800" y="692400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2538625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20元</a:t>
            </a:r>
            <a:endParaRPr sz="1000"/>
          </a:p>
        </p:txBody>
      </p:sp>
      <p:pic>
        <p:nvPicPr>
          <p:cNvPr id="524" name="Google Shape;524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07425" y="850450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4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526" name="Google Shape;526;p34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527" name="Google Shape;527;p34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528" name="Google Shape;528;p34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29" name="Google Shape;529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4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66550" y="1835862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4"/>
          <p:cNvSpPr txBox="1"/>
          <p:nvPr/>
        </p:nvSpPr>
        <p:spPr>
          <a:xfrm>
            <a:off x="4001313" y="2066663"/>
            <a:ext cx="344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结账，物品加入到下方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货架中的物品不是卡牌、不可拖动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38" name="Google Shape;5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5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540" name="Google Shape;540;p35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541" name="Google Shape;541;p35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542" name="Google Shape;542;p35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43" name="Google Shape;543;p35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5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5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5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5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48" name="Google Shape;548;p35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549" name="Google Shape;549;p35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550" name="Google Shape;550;p35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551" name="Google Shape;551;p35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2" name="Google Shape;552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5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4" name="Google Shape;554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6550" y="1835862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5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</a:t>
            </a:r>
            <a:r>
              <a:rPr lang="zh-CN" sz="1200"/>
              <a:t>的委托</a:t>
            </a:r>
            <a:endParaRPr sz="1200"/>
          </a:p>
        </p:txBody>
      </p:sp>
      <p:sp>
        <p:nvSpPr>
          <p:cNvPr id="556" name="Google Shape;556;p35"/>
          <p:cNvSpPr/>
          <p:nvPr/>
        </p:nvSpPr>
        <p:spPr>
          <a:xfrm>
            <a:off x="1997400" y="607488"/>
            <a:ext cx="3495600" cy="2311500"/>
          </a:xfrm>
          <a:prstGeom prst="rect">
            <a:avLst/>
          </a:prstGeom>
          <a:solidFill>
            <a:schemeClr val="lt2"/>
          </a:solidFill>
          <a:ln cap="flat" cmpd="sng" w="10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0"/>
          </a:p>
        </p:txBody>
      </p:sp>
      <p:sp>
        <p:nvSpPr>
          <p:cNvPr id="557" name="Google Shape;557;p35"/>
          <p:cNvSpPr txBox="1"/>
          <p:nvPr/>
        </p:nvSpPr>
        <p:spPr>
          <a:xfrm>
            <a:off x="2135536" y="1093546"/>
            <a:ext cx="3219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向日葵先生没有说话，只是指了指自己的脖颈——或者说，绿色的茎。我看到那里长出了细小的白花。他想摘掉它们，还是任其生长？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558" name="Google Shape;558;p35"/>
          <p:cNvSpPr/>
          <p:nvPr/>
        </p:nvSpPr>
        <p:spPr>
          <a:xfrm>
            <a:off x="2910720" y="1835847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559" name="Google Shape;559;p35"/>
          <p:cNvSpPr txBox="1"/>
          <p:nvPr/>
        </p:nvSpPr>
        <p:spPr>
          <a:xfrm>
            <a:off x="5228880" y="584825"/>
            <a:ext cx="321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43">
                <a:solidFill>
                  <a:schemeClr val="dk2"/>
                </a:solidFill>
              </a:rPr>
              <a:t>X</a:t>
            </a:r>
            <a:endParaRPr b="1" sz="1443">
              <a:solidFill>
                <a:schemeClr val="dk2"/>
              </a:solidFill>
            </a:endParaRPr>
          </a:p>
        </p:txBody>
      </p:sp>
      <p:sp>
        <p:nvSpPr>
          <p:cNvPr id="560" name="Google Shape;560;p35"/>
          <p:cNvSpPr txBox="1"/>
          <p:nvPr/>
        </p:nvSpPr>
        <p:spPr>
          <a:xfrm>
            <a:off x="2857625" y="674725"/>
            <a:ext cx="2319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2">
                <a:solidFill>
                  <a:schemeClr val="dk2"/>
                </a:solidFill>
              </a:rPr>
              <a:t>花店老板</a:t>
            </a:r>
            <a:r>
              <a:rPr lang="zh-CN" sz="1802">
                <a:solidFill>
                  <a:schemeClr val="dk2"/>
                </a:solidFill>
              </a:rPr>
              <a:t>的委托</a:t>
            </a:r>
            <a:endParaRPr sz="1802">
              <a:solidFill>
                <a:schemeClr val="dk2"/>
              </a:solidFill>
            </a:endParaRPr>
          </a:p>
        </p:txBody>
      </p:sp>
      <p:sp>
        <p:nvSpPr>
          <p:cNvPr id="561" name="Google Shape;561;p35"/>
          <p:cNvSpPr/>
          <p:nvPr/>
        </p:nvSpPr>
        <p:spPr>
          <a:xfrm>
            <a:off x="3900695" y="1835859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562" name="Google Shape;562;p35"/>
          <p:cNvSpPr txBox="1"/>
          <p:nvPr/>
        </p:nvSpPr>
        <p:spPr>
          <a:xfrm>
            <a:off x="3559800" y="2019450"/>
            <a:ext cx="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3" name="Google Shape;563;p35"/>
          <p:cNvSpPr txBox="1"/>
          <p:nvPr/>
        </p:nvSpPr>
        <p:spPr>
          <a:xfrm>
            <a:off x="6354945" y="2372263"/>
            <a:ext cx="194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聊天接取任务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6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69" name="Google Shape;5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6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571" name="Google Shape;571;p36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572" name="Google Shape;572;p36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573" name="Google Shape;573;p36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74" name="Google Shape;574;p36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6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6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6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6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580" name="Google Shape;580;p36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581" name="Google Shape;581;p36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582" name="Google Shape;582;p36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3" name="Google Shape;583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6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6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sp>
        <p:nvSpPr>
          <p:cNvPr id="586" name="Google Shape;586;p36"/>
          <p:cNvSpPr/>
          <p:nvPr/>
        </p:nvSpPr>
        <p:spPr>
          <a:xfrm>
            <a:off x="1997400" y="607488"/>
            <a:ext cx="3495600" cy="2311500"/>
          </a:xfrm>
          <a:prstGeom prst="rect">
            <a:avLst/>
          </a:prstGeom>
          <a:solidFill>
            <a:schemeClr val="lt2"/>
          </a:solidFill>
          <a:ln cap="flat" cmpd="sng" w="10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0"/>
          </a:p>
        </p:txBody>
      </p:sp>
      <p:sp>
        <p:nvSpPr>
          <p:cNvPr id="587" name="Google Shape;587;p36"/>
          <p:cNvSpPr txBox="1"/>
          <p:nvPr/>
        </p:nvSpPr>
        <p:spPr>
          <a:xfrm>
            <a:off x="2135536" y="1093546"/>
            <a:ext cx="3219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向日葵先生没有说话，只是指了指自己的脖颈——或者说，绿色的茎。我看到那里长出了细小的白花。他想摘掉它们，还是任其生长？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2910720" y="1835847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589" name="Google Shape;589;p36"/>
          <p:cNvSpPr txBox="1"/>
          <p:nvPr/>
        </p:nvSpPr>
        <p:spPr>
          <a:xfrm>
            <a:off x="5228880" y="584825"/>
            <a:ext cx="321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43">
                <a:solidFill>
                  <a:schemeClr val="dk2"/>
                </a:solidFill>
              </a:rPr>
              <a:t>X</a:t>
            </a:r>
            <a:endParaRPr b="1" sz="1443">
              <a:solidFill>
                <a:schemeClr val="dk2"/>
              </a:solidFill>
            </a:endParaRPr>
          </a:p>
        </p:txBody>
      </p:sp>
      <p:sp>
        <p:nvSpPr>
          <p:cNvPr id="590" name="Google Shape;590;p36"/>
          <p:cNvSpPr txBox="1"/>
          <p:nvPr/>
        </p:nvSpPr>
        <p:spPr>
          <a:xfrm>
            <a:off x="2857625" y="674725"/>
            <a:ext cx="2319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2">
                <a:solidFill>
                  <a:schemeClr val="dk2"/>
                </a:solidFill>
              </a:rPr>
              <a:t>花店老板的委托</a:t>
            </a:r>
            <a:endParaRPr sz="1802">
              <a:solidFill>
                <a:schemeClr val="dk2"/>
              </a:solidFill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3900695" y="1835859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pic>
        <p:nvPicPr>
          <p:cNvPr id="592" name="Google Shape;592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01300" y="241802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6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6"/>
          <p:cNvSpPr txBox="1"/>
          <p:nvPr/>
        </p:nvSpPr>
        <p:spPr>
          <a:xfrm>
            <a:off x="6637925" y="0"/>
            <a:ext cx="230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</a:rPr>
              <a:t>让白花不再生长，我可以给他冰冷的工具。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595" name="Google Shape;595;p36"/>
          <p:cNvSpPr txBox="1"/>
          <p:nvPr/>
        </p:nvSpPr>
        <p:spPr>
          <a:xfrm>
            <a:off x="8028625" y="4727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000">
                <a:solidFill>
                  <a:schemeClr val="lt1"/>
                </a:solidFill>
              </a:rPr>
              <a:t>*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596" name="Google Shape;596;p36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6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598" name="Google Shape;598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33413" y="696413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6"/>
          <p:cNvSpPr txBox="1"/>
          <p:nvPr/>
        </p:nvSpPr>
        <p:spPr>
          <a:xfrm>
            <a:off x="3559800" y="2019450"/>
            <a:ext cx="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or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7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05" name="Google Shape;6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7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607" name="Google Shape;607;p37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608" name="Google Shape;608;p37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609" name="Google Shape;609;p37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10" name="Google Shape;610;p37" title="flowerst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7" title="bag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7" title="flower-he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7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7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15" name="Google Shape;615;p37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616" name="Google Shape;616;p37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617" name="Google Shape;617;p37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618" name="Google Shape;618;p37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19" name="Google Shape;61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7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7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sp>
        <p:nvSpPr>
          <p:cNvPr id="622" name="Google Shape;622;p37"/>
          <p:cNvSpPr/>
          <p:nvPr/>
        </p:nvSpPr>
        <p:spPr>
          <a:xfrm>
            <a:off x="1997400" y="607488"/>
            <a:ext cx="3495600" cy="2311500"/>
          </a:xfrm>
          <a:prstGeom prst="rect">
            <a:avLst/>
          </a:prstGeom>
          <a:solidFill>
            <a:schemeClr val="lt2"/>
          </a:solidFill>
          <a:ln cap="flat" cmpd="sng" w="10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0"/>
          </a:p>
        </p:txBody>
      </p:sp>
      <p:sp>
        <p:nvSpPr>
          <p:cNvPr id="623" name="Google Shape;623;p37"/>
          <p:cNvSpPr txBox="1"/>
          <p:nvPr/>
        </p:nvSpPr>
        <p:spPr>
          <a:xfrm>
            <a:off x="2135536" y="1093546"/>
            <a:ext cx="3219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向日葵先生没有说话，只是指了指自己的脖颈——或者说，绿色的茎。我看到那里长出了细小的白花。他想摘掉它们，还是任其生长？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624" name="Google Shape;624;p37"/>
          <p:cNvSpPr/>
          <p:nvPr/>
        </p:nvSpPr>
        <p:spPr>
          <a:xfrm>
            <a:off x="2910720" y="1835847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625" name="Google Shape;625;p37"/>
          <p:cNvSpPr txBox="1"/>
          <p:nvPr/>
        </p:nvSpPr>
        <p:spPr>
          <a:xfrm>
            <a:off x="5228880" y="584825"/>
            <a:ext cx="321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43">
                <a:solidFill>
                  <a:schemeClr val="dk2"/>
                </a:solidFill>
              </a:rPr>
              <a:t>X</a:t>
            </a:r>
            <a:endParaRPr b="1" sz="1443">
              <a:solidFill>
                <a:schemeClr val="dk2"/>
              </a:solidFill>
            </a:endParaRPr>
          </a:p>
        </p:txBody>
      </p:sp>
      <p:sp>
        <p:nvSpPr>
          <p:cNvPr id="626" name="Google Shape;626;p37"/>
          <p:cNvSpPr txBox="1"/>
          <p:nvPr/>
        </p:nvSpPr>
        <p:spPr>
          <a:xfrm>
            <a:off x="2857625" y="674725"/>
            <a:ext cx="2319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2">
                <a:solidFill>
                  <a:schemeClr val="dk2"/>
                </a:solidFill>
              </a:rPr>
              <a:t>花店老板的委托</a:t>
            </a:r>
            <a:endParaRPr sz="1802">
              <a:solidFill>
                <a:schemeClr val="dk2"/>
              </a:solidFill>
            </a:endParaRPr>
          </a:p>
        </p:txBody>
      </p:sp>
      <p:sp>
        <p:nvSpPr>
          <p:cNvPr id="627" name="Google Shape;627;p37"/>
          <p:cNvSpPr/>
          <p:nvPr/>
        </p:nvSpPr>
        <p:spPr>
          <a:xfrm>
            <a:off x="3900695" y="1835859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pic>
        <p:nvPicPr>
          <p:cNvPr id="628" name="Google Shape;628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31875" y="2418012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7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7"/>
          <p:cNvSpPr txBox="1"/>
          <p:nvPr/>
        </p:nvSpPr>
        <p:spPr>
          <a:xfrm>
            <a:off x="6637925" y="0"/>
            <a:ext cx="230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</a:rPr>
              <a:t>让白花</a:t>
            </a:r>
            <a:r>
              <a:rPr lang="zh-CN" sz="1300">
                <a:solidFill>
                  <a:schemeClr val="lt1"/>
                </a:solidFill>
              </a:rPr>
              <a:t>更加繁盛</a:t>
            </a:r>
            <a:r>
              <a:rPr lang="zh-CN" sz="1300">
                <a:solidFill>
                  <a:schemeClr val="lt1"/>
                </a:solidFill>
              </a:rPr>
              <a:t>，我可以给他</a:t>
            </a:r>
            <a:r>
              <a:rPr lang="zh-CN" sz="1300">
                <a:solidFill>
                  <a:schemeClr val="lt1"/>
                </a:solidFill>
              </a:rPr>
              <a:t>滋润的饮品</a:t>
            </a:r>
            <a:r>
              <a:rPr lang="zh-CN" sz="1300">
                <a:solidFill>
                  <a:schemeClr val="lt1"/>
                </a:solidFill>
              </a:rPr>
              <a:t>。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631" name="Google Shape;631;p37"/>
          <p:cNvSpPr txBox="1"/>
          <p:nvPr/>
        </p:nvSpPr>
        <p:spPr>
          <a:xfrm>
            <a:off x="8028625" y="472725"/>
            <a:ext cx="4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000">
                <a:solidFill>
                  <a:schemeClr val="lt1"/>
                </a:solidFill>
              </a:rPr>
              <a:t>*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632" name="Google Shape;632;p37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7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634" name="Google Shape;634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44771" y="707767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7"/>
          <p:cNvSpPr/>
          <p:nvPr/>
        </p:nvSpPr>
        <p:spPr>
          <a:xfrm>
            <a:off x="7075500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6" name="Google Shape;636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9450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7"/>
          <p:cNvSpPr txBox="1"/>
          <p:nvPr/>
        </p:nvSpPr>
        <p:spPr>
          <a:xfrm>
            <a:off x="3559800" y="2019450"/>
            <a:ext cx="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38" name="Google Shape;638;p37"/>
          <p:cNvSpPr txBox="1"/>
          <p:nvPr/>
        </p:nvSpPr>
        <p:spPr>
          <a:xfrm>
            <a:off x="7383000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4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8"/>
          <p:cNvSpPr txBox="1"/>
          <p:nvPr/>
        </p:nvSpPr>
        <p:spPr>
          <a:xfrm>
            <a:off x="4938925" y="2152975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合成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39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9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9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651" name="Google Shape;651;p39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653" name="Google Shape;653;p39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54" name="Google Shape;654;p39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5" name="Google Shape;655;p39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9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7" name="Google Shape;657;p39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9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9" name="Google Shape;65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9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9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3" name="Google Shape;663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9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65" name="Google Shape;665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9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9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668" name="Google Shape;668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9"/>
          <p:cNvSpPr txBox="1"/>
          <p:nvPr/>
        </p:nvSpPr>
        <p:spPr>
          <a:xfrm>
            <a:off x="6027025" y="4224600"/>
            <a:ext cx="20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右下角是合成入口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40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0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676" name="Google Shape;676;p40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677" name="Google Shape;677;p40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678" name="Google Shape;678;p40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79" name="Google Shape;679;p40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0" name="Google Shape;680;p40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0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2" name="Google Shape;682;p40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0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0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6" name="Google Shape;68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0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89" name="Google Shape;68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0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91" name="Google Shape;691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lt1"/>
                </a:solidFill>
              </a:rPr>
              <a:t>可乐</a:t>
            </a:r>
            <a:endParaRPr/>
          </a:p>
        </p:txBody>
      </p:sp>
      <p:sp>
        <p:nvSpPr>
          <p:cNvPr id="693" name="Google Shape;693;p40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694" name="Google Shape;694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0" title="bag-he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0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0"/>
          <p:cNvSpPr txBox="1"/>
          <p:nvPr/>
        </p:nvSpPr>
        <p:spPr>
          <a:xfrm>
            <a:off x="4159600" y="3626825"/>
            <a:ext cx="36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不要想象这里有什么，而要忘记这里没有什么。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98" name="Google Shape;698;p40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pic>
        <p:nvPicPr>
          <p:cNvPr id="699" name="Google Shape;699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74023" y="4265877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40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701" name="Google Shape;701;p40"/>
          <p:cNvSpPr/>
          <p:nvPr/>
        </p:nvSpPr>
        <p:spPr>
          <a:xfrm>
            <a:off x="25305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702" name="Google Shape;702;p40"/>
          <p:cNvSpPr txBox="1"/>
          <p:nvPr/>
        </p:nvSpPr>
        <p:spPr>
          <a:xfrm>
            <a:off x="2635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41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1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710" name="Google Shape;710;p41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711" name="Google Shape;711;p41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712" name="Google Shape;712;p41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41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1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41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41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1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1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1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23" name="Google Shape;72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1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25" name="Google Shape;72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1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727" name="Google Shape;727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1" title="bag-he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41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730" name="Google Shape;730;p41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1"/>
          <p:cNvSpPr txBox="1"/>
          <p:nvPr/>
        </p:nvSpPr>
        <p:spPr>
          <a:xfrm>
            <a:off x="4159600" y="3626825"/>
            <a:ext cx="36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不要想象这里有什么，而要忘记这里没有什么。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32" name="Google Shape;732;p41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733" name="Google Shape;733;p41"/>
          <p:cNvSpPr/>
          <p:nvPr/>
        </p:nvSpPr>
        <p:spPr>
          <a:xfrm>
            <a:off x="2336175" y="15219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可乐</a:t>
            </a:r>
            <a:endParaRPr/>
          </a:p>
        </p:txBody>
      </p:sp>
      <p:pic>
        <p:nvPicPr>
          <p:cNvPr id="734" name="Google Shape;734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92348" y="1563252"/>
            <a:ext cx="489850" cy="4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33600" y="2343050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1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1"/>
          <p:cNvSpPr/>
          <p:nvPr/>
        </p:nvSpPr>
        <p:spPr>
          <a:xfrm>
            <a:off x="6606000" y="0"/>
            <a:ext cx="649800" cy="5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1"/>
          <p:cNvSpPr txBox="1"/>
          <p:nvPr/>
        </p:nvSpPr>
        <p:spPr>
          <a:xfrm>
            <a:off x="7255800" y="0"/>
            <a:ext cx="175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可乐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39" name="Google Shape;739;p41"/>
          <p:cNvSpPr txBox="1"/>
          <p:nvPr/>
        </p:nvSpPr>
        <p:spPr>
          <a:xfrm>
            <a:off x="7255800" y="220875"/>
            <a:ext cx="17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据说玻璃瓶装的口感才最好。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740" name="Google Shape;740;p41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1" name="Google Shape;741;p4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27675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1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743" name="Google Shape;743;p41"/>
          <p:cNvSpPr/>
          <p:nvPr/>
        </p:nvSpPr>
        <p:spPr>
          <a:xfrm>
            <a:off x="7271975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1"/>
          <p:cNvSpPr/>
          <p:nvPr/>
        </p:nvSpPr>
        <p:spPr>
          <a:xfrm>
            <a:off x="7721250" y="6567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41"/>
          <p:cNvSpPr txBox="1"/>
          <p:nvPr/>
        </p:nvSpPr>
        <p:spPr>
          <a:xfrm>
            <a:off x="8906200" y="-66025"/>
            <a:ext cx="30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solidFill>
                  <a:schemeClr val="lt1"/>
                </a:solidFill>
              </a:rPr>
              <a:t>X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id="746" name="Google Shape;746;p4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85973" y="52902"/>
            <a:ext cx="489850" cy="4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23034" y="707767"/>
            <a:ext cx="205400" cy="205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55200" y="690675"/>
            <a:ext cx="239599" cy="23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1"/>
          <p:cNvSpPr/>
          <p:nvPr/>
        </p:nvSpPr>
        <p:spPr>
          <a:xfrm>
            <a:off x="4898225" y="1520650"/>
            <a:ext cx="1600506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0" name="Google Shape;750;p4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51575" y="1654600"/>
            <a:ext cx="239599" cy="23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1"/>
          <p:cNvSpPr txBox="1"/>
          <p:nvPr/>
        </p:nvSpPr>
        <p:spPr>
          <a:xfrm>
            <a:off x="5532650" y="1505000"/>
            <a:ext cx="30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chemeClr val="dk1"/>
                </a:solidFill>
              </a:rPr>
              <a:t>+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752" name="Google Shape;752;p41"/>
          <p:cNvSpPr txBox="1"/>
          <p:nvPr/>
        </p:nvSpPr>
        <p:spPr>
          <a:xfrm>
            <a:off x="5981625" y="1535900"/>
            <a:ext cx="307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chemeClr val="dk1"/>
                </a:solidFill>
              </a:rPr>
              <a:t>?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53" name="Google Shape;753;p41"/>
          <p:cNvSpPr/>
          <p:nvPr/>
        </p:nvSpPr>
        <p:spPr>
          <a:xfrm>
            <a:off x="4898225" y="2182350"/>
            <a:ext cx="1600506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1"/>
          <p:cNvSpPr txBox="1"/>
          <p:nvPr/>
        </p:nvSpPr>
        <p:spPr>
          <a:xfrm>
            <a:off x="5532650" y="2166700"/>
            <a:ext cx="30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chemeClr val="dk1"/>
                </a:solidFill>
              </a:rPr>
              <a:t>+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755" name="Google Shape;755;p41"/>
          <p:cNvSpPr txBox="1"/>
          <p:nvPr/>
        </p:nvSpPr>
        <p:spPr>
          <a:xfrm>
            <a:off x="5981625" y="2197600"/>
            <a:ext cx="307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chemeClr val="dk1"/>
                </a:solidFill>
              </a:rPr>
              <a:t>?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id="756" name="Google Shape;756;p4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68684" y="23333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1"/>
          <p:cNvSpPr txBox="1"/>
          <p:nvPr/>
        </p:nvSpPr>
        <p:spPr>
          <a:xfrm>
            <a:off x="249235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758" name="Google Shape;758;p41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759" name="Google Shape;759;p41"/>
          <p:cNvSpPr txBox="1"/>
          <p:nvPr/>
        </p:nvSpPr>
        <p:spPr>
          <a:xfrm>
            <a:off x="2148800" y="2789113"/>
            <a:ext cx="388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拖动放置原料，基于其包含的属性，右侧出现潜在的配方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42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2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766" name="Google Shape;766;p42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767" name="Google Shape;767;p42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768" name="Google Shape;768;p42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69" name="Google Shape;769;p42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0" name="Google Shape;770;p42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2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2" name="Google Shape;772;p42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2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2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6" name="Google Shape;77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42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2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79" name="Google Shape;77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2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81" name="Google Shape;781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2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783" name="Google Shape;783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2" title="bag-he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2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786" name="Google Shape;786;p42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2"/>
          <p:cNvSpPr txBox="1"/>
          <p:nvPr/>
        </p:nvSpPr>
        <p:spPr>
          <a:xfrm>
            <a:off x="4030150" y="3473950"/>
            <a:ext cx="36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2"/>
                </a:solidFill>
              </a:rPr>
              <a:t>在砼城，金属制品受到严格的管控。加入灯，我将想象剪子的咔嚓声。加入镜，我会忆起刀背上的白光。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88" name="Google Shape;788;p42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789" name="Google Shape;789;p42"/>
          <p:cNvSpPr/>
          <p:nvPr/>
        </p:nvSpPr>
        <p:spPr>
          <a:xfrm>
            <a:off x="2336175" y="15219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可乐</a:t>
            </a:r>
            <a:endParaRPr/>
          </a:p>
        </p:txBody>
      </p:sp>
      <p:pic>
        <p:nvPicPr>
          <p:cNvPr id="790" name="Google Shape;790;p4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92348" y="1563252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2"/>
          <p:cNvSpPr/>
          <p:nvPr/>
        </p:nvSpPr>
        <p:spPr>
          <a:xfrm>
            <a:off x="4898225" y="1520650"/>
            <a:ext cx="1600506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4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51575" y="1654600"/>
            <a:ext cx="239599" cy="23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2"/>
          <p:cNvSpPr txBox="1"/>
          <p:nvPr/>
        </p:nvSpPr>
        <p:spPr>
          <a:xfrm>
            <a:off x="5532650" y="1505000"/>
            <a:ext cx="30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chemeClr val="dk1"/>
                </a:solidFill>
              </a:rPr>
              <a:t>+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794" name="Google Shape;794;p42"/>
          <p:cNvSpPr txBox="1"/>
          <p:nvPr/>
        </p:nvSpPr>
        <p:spPr>
          <a:xfrm>
            <a:off x="5981625" y="1535900"/>
            <a:ext cx="307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chemeClr val="dk1"/>
                </a:solidFill>
              </a:rPr>
              <a:t>?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795" name="Google Shape;795;p42"/>
          <p:cNvSpPr/>
          <p:nvPr/>
        </p:nvSpPr>
        <p:spPr>
          <a:xfrm>
            <a:off x="4898225" y="2182350"/>
            <a:ext cx="1600506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2"/>
          <p:cNvSpPr txBox="1"/>
          <p:nvPr/>
        </p:nvSpPr>
        <p:spPr>
          <a:xfrm>
            <a:off x="5532650" y="2166700"/>
            <a:ext cx="30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chemeClr val="dk1"/>
                </a:solidFill>
              </a:rPr>
              <a:t>+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797" name="Google Shape;797;p42"/>
          <p:cNvSpPr txBox="1"/>
          <p:nvPr/>
        </p:nvSpPr>
        <p:spPr>
          <a:xfrm>
            <a:off x="5981625" y="2197600"/>
            <a:ext cx="307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900">
                <a:solidFill>
                  <a:schemeClr val="dk1"/>
                </a:solidFill>
              </a:rPr>
              <a:t>?</a:t>
            </a:r>
            <a:endParaRPr b="1" sz="1900">
              <a:solidFill>
                <a:schemeClr val="dk1"/>
              </a:solidFill>
            </a:endParaRPr>
          </a:p>
        </p:txBody>
      </p:sp>
      <p:pic>
        <p:nvPicPr>
          <p:cNvPr id="798" name="Google Shape;798;p4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68684" y="23333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42"/>
          <p:cNvSpPr txBox="1"/>
          <p:nvPr/>
        </p:nvSpPr>
        <p:spPr>
          <a:xfrm>
            <a:off x="252165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00" name="Google Shape;800;p42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  <p:pic>
        <p:nvPicPr>
          <p:cNvPr id="801" name="Google Shape;801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6900" y="1837525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42"/>
          <p:cNvSpPr txBox="1"/>
          <p:nvPr/>
        </p:nvSpPr>
        <p:spPr>
          <a:xfrm>
            <a:off x="4560387" y="2733263"/>
            <a:ext cx="388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点击潜在配方，下方出现提示文案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43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3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809" name="Google Shape;809;p43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810" name="Google Shape;810;p43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811" name="Google Shape;811;p43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12" name="Google Shape;812;p43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3" name="Google Shape;813;p43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3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5" name="Google Shape;815;p43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3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7" name="Google Shape;81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43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3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3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22" name="Google Shape;82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43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824" name="Google Shape;82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3" title="bag-hea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3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dk1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22">
                <a:solidFill>
                  <a:schemeClr val="lt1"/>
                </a:solidFill>
              </a:rPr>
              <a:t>向日葵</a:t>
            </a:r>
            <a:endParaRPr sz="1422">
              <a:solidFill>
                <a:schemeClr val="lt1"/>
              </a:solidFill>
            </a:endParaRPr>
          </a:p>
        </p:txBody>
      </p:sp>
      <p:sp>
        <p:nvSpPr>
          <p:cNvPr id="827" name="Google Shape;827;p43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3"/>
          <p:cNvSpPr txBox="1"/>
          <p:nvPr/>
        </p:nvSpPr>
        <p:spPr>
          <a:xfrm>
            <a:off x="4030150" y="3473950"/>
            <a:ext cx="36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2"/>
                </a:solidFill>
              </a:rPr>
              <a:t>咔嚓、咔嚓、咔嚓——</a:t>
            </a:r>
            <a:r>
              <a:rPr lang="zh-CN" sz="1100">
                <a:solidFill>
                  <a:schemeClr val="dk2"/>
                </a:solidFill>
              </a:rPr>
              <a:t>【以金属为原料，加上灯的影响，可以合成剪刀。】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829" name="Google Shape;829;p43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830" name="Google Shape;830;p43"/>
          <p:cNvSpPr/>
          <p:nvPr/>
        </p:nvSpPr>
        <p:spPr>
          <a:xfrm>
            <a:off x="2336175" y="152197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可乐</a:t>
            </a:r>
            <a:endParaRPr/>
          </a:p>
        </p:txBody>
      </p:sp>
      <p:pic>
        <p:nvPicPr>
          <p:cNvPr id="831" name="Google Shape;831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92348" y="1563252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3"/>
          <p:cNvSpPr/>
          <p:nvPr/>
        </p:nvSpPr>
        <p:spPr>
          <a:xfrm>
            <a:off x="4898225" y="1520650"/>
            <a:ext cx="1600506" cy="507492"/>
          </a:xfrm>
          <a:prstGeom prst="flowChartTerminator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3" name="Google Shape;833;p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51575" y="1654600"/>
            <a:ext cx="239599" cy="23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3"/>
          <p:cNvSpPr txBox="1"/>
          <p:nvPr/>
        </p:nvSpPr>
        <p:spPr>
          <a:xfrm>
            <a:off x="5532650" y="1505000"/>
            <a:ext cx="30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300">
                <a:solidFill>
                  <a:schemeClr val="dk1"/>
                </a:solidFill>
              </a:rPr>
              <a:t>+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835" name="Google Shape;835;p43"/>
          <p:cNvSpPr txBox="1"/>
          <p:nvPr/>
        </p:nvSpPr>
        <p:spPr>
          <a:xfrm>
            <a:off x="249235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36" name="Google Shape;836;p43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  <p:pic>
        <p:nvPicPr>
          <p:cNvPr id="837" name="Google Shape;837;p4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08775" y="1587675"/>
            <a:ext cx="441000" cy="4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4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74846" y="1655725"/>
            <a:ext cx="237375" cy="2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3"/>
          <p:cNvSpPr/>
          <p:nvPr/>
        </p:nvSpPr>
        <p:spPr>
          <a:xfrm>
            <a:off x="6865325" y="1491525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剪刀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40" name="Google Shape;840;p4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37713" y="157946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3"/>
          <p:cNvSpPr txBox="1"/>
          <p:nvPr/>
        </p:nvSpPr>
        <p:spPr>
          <a:xfrm>
            <a:off x="7001825" y="110662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产物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42" name="Google Shape;842;p43"/>
          <p:cNvSpPr/>
          <p:nvPr/>
        </p:nvSpPr>
        <p:spPr>
          <a:xfrm>
            <a:off x="6921238" y="2530299"/>
            <a:ext cx="711882" cy="239598"/>
          </a:xfrm>
          <a:prstGeom prst="flowChartTermina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合成</a:t>
            </a:r>
            <a:endParaRPr sz="1000"/>
          </a:p>
        </p:txBody>
      </p:sp>
      <p:pic>
        <p:nvPicPr>
          <p:cNvPr id="843" name="Google Shape;843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25650" y="2695337"/>
            <a:ext cx="307475" cy="3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43"/>
          <p:cNvSpPr txBox="1"/>
          <p:nvPr/>
        </p:nvSpPr>
        <p:spPr>
          <a:xfrm>
            <a:off x="2613700" y="2689388"/>
            <a:ext cx="388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满足配方，则配方变色，只保留可实现的配方，右侧出现产物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44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44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851" name="Google Shape;851;p44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852" name="Google Shape;852;p44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853" name="Google Shape;853;p44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54" name="Google Shape;854;p44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5" name="Google Shape;855;p44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44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44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4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44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4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4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64" name="Google Shape;864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44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866" name="Google Shape;866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44" title="bag-hea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44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4"/>
          <p:cNvSpPr txBox="1"/>
          <p:nvPr/>
        </p:nvSpPr>
        <p:spPr>
          <a:xfrm>
            <a:off x="4030150" y="3473950"/>
            <a:ext cx="36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2"/>
                </a:solidFill>
              </a:rPr>
              <a:t>咔嚓、咔嚓、咔嚓——</a:t>
            </a:r>
            <a:r>
              <a:rPr lang="zh-CN" sz="1100">
                <a:solidFill>
                  <a:schemeClr val="dk2"/>
                </a:solidFill>
              </a:rPr>
              <a:t>【以金属为原料，加上灯的影响，可以合成剪刀。】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870" name="Google Shape;870;p44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871" name="Google Shape;871;p44"/>
          <p:cNvSpPr/>
          <p:nvPr/>
        </p:nvSpPr>
        <p:spPr>
          <a:xfrm>
            <a:off x="360877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剪刀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72" name="Google Shape;872;p4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81163" y="43125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4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874" name="Google Shape;874;p44"/>
          <p:cNvSpPr/>
          <p:nvPr/>
        </p:nvSpPr>
        <p:spPr>
          <a:xfrm>
            <a:off x="25305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875" name="Google Shape;875;p44"/>
          <p:cNvSpPr txBox="1"/>
          <p:nvPr/>
        </p:nvSpPr>
        <p:spPr>
          <a:xfrm>
            <a:off x="2635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76" name="Google Shape;876;p44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77" name="Google Shape;877;p44"/>
          <p:cNvSpPr txBox="1"/>
          <p:nvPr/>
        </p:nvSpPr>
        <p:spPr>
          <a:xfrm>
            <a:off x="2613700" y="2689388"/>
            <a:ext cx="388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>
                <a:solidFill>
                  <a:schemeClr val="lt1"/>
                </a:solidFill>
              </a:rPr>
              <a:t>点击合成，左侧物品消失，右侧新物品加入物品栏。可以做个小动画。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45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5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884" name="Google Shape;884;p45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885" name="Google Shape;885;p45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886" name="Google Shape;886;p45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87" name="Google Shape;887;p45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8" name="Google Shape;888;p45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5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0" name="Google Shape;890;p45" title="icons8-arrow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45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45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45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5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97" name="Google Shape;89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45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pic>
        <p:nvPicPr>
          <p:cNvPr id="899" name="Google Shape;89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45" title="bag-hea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45"/>
          <p:cNvSpPr/>
          <p:nvPr/>
        </p:nvSpPr>
        <p:spPr>
          <a:xfrm>
            <a:off x="3900700" y="3389425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5"/>
          <p:cNvSpPr txBox="1"/>
          <p:nvPr/>
        </p:nvSpPr>
        <p:spPr>
          <a:xfrm>
            <a:off x="4030150" y="3473950"/>
            <a:ext cx="36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2"/>
                </a:solidFill>
              </a:rPr>
              <a:t>咔嚓、咔嚓、咔嚓——【以金属为原料，加上灯的影响，可以合成剪刀。】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03" name="Google Shape;903;p45"/>
          <p:cNvSpPr txBox="1"/>
          <p:nvPr/>
        </p:nvSpPr>
        <p:spPr>
          <a:xfrm>
            <a:off x="4451975" y="120325"/>
            <a:ext cx="3621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chemeClr val="lt1"/>
                </a:solidFill>
              </a:rPr>
              <a:t>袋中之色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904" name="Google Shape;904;p45"/>
          <p:cNvSpPr/>
          <p:nvPr/>
        </p:nvSpPr>
        <p:spPr>
          <a:xfrm>
            <a:off x="360877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剪刀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05" name="Google Shape;905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81163" y="43125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5"/>
          <p:cNvSpPr/>
          <p:nvPr/>
        </p:nvSpPr>
        <p:spPr>
          <a:xfrm>
            <a:off x="34477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07" name="Google Shape;907;p45"/>
          <p:cNvSpPr/>
          <p:nvPr/>
        </p:nvSpPr>
        <p:spPr>
          <a:xfrm>
            <a:off x="2530501" y="1521976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08" name="Google Shape;908;p45"/>
          <p:cNvSpPr txBox="1"/>
          <p:nvPr/>
        </p:nvSpPr>
        <p:spPr>
          <a:xfrm>
            <a:off x="2635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原料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909" name="Google Shape;909;p45"/>
          <p:cNvSpPr txBox="1"/>
          <p:nvPr/>
        </p:nvSpPr>
        <p:spPr>
          <a:xfrm>
            <a:off x="3564700" y="1121775"/>
            <a:ext cx="52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lt1"/>
                </a:solidFill>
              </a:rPr>
              <a:t>调和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910" name="Google Shape;910;p45"/>
          <p:cNvSpPr/>
          <p:nvPr/>
        </p:nvSpPr>
        <p:spPr>
          <a:xfrm>
            <a:off x="1856875" y="926051"/>
            <a:ext cx="3495600" cy="2311500"/>
          </a:xfrm>
          <a:prstGeom prst="rect">
            <a:avLst/>
          </a:prstGeom>
          <a:solidFill>
            <a:schemeClr val="lt2"/>
          </a:solidFill>
          <a:ln cap="flat" cmpd="sng" w="10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0"/>
          </a:p>
        </p:txBody>
      </p:sp>
      <p:sp>
        <p:nvSpPr>
          <p:cNvPr id="911" name="Google Shape;911;p45"/>
          <p:cNvSpPr txBox="1"/>
          <p:nvPr/>
        </p:nvSpPr>
        <p:spPr>
          <a:xfrm>
            <a:off x="1995011" y="1412109"/>
            <a:ext cx="3219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向日葵先生没有说话，只是指了指自己的脖颈——或者说，绿色的茎。我看到那里长出了细小的白花。他想摘掉它们，还是任其生长？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912" name="Google Shape;912;p45"/>
          <p:cNvSpPr/>
          <p:nvPr/>
        </p:nvSpPr>
        <p:spPr>
          <a:xfrm>
            <a:off x="2770195" y="2154409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13" name="Google Shape;913;p45"/>
          <p:cNvSpPr txBox="1"/>
          <p:nvPr/>
        </p:nvSpPr>
        <p:spPr>
          <a:xfrm>
            <a:off x="5088355" y="903388"/>
            <a:ext cx="321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43">
                <a:solidFill>
                  <a:schemeClr val="dk2"/>
                </a:solidFill>
              </a:rPr>
              <a:t>X</a:t>
            </a:r>
            <a:endParaRPr b="1" sz="1443">
              <a:solidFill>
                <a:schemeClr val="dk2"/>
              </a:solidFill>
            </a:endParaRPr>
          </a:p>
        </p:txBody>
      </p:sp>
      <p:sp>
        <p:nvSpPr>
          <p:cNvPr id="914" name="Google Shape;914;p45"/>
          <p:cNvSpPr txBox="1"/>
          <p:nvPr/>
        </p:nvSpPr>
        <p:spPr>
          <a:xfrm>
            <a:off x="2717100" y="993288"/>
            <a:ext cx="2319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2">
                <a:solidFill>
                  <a:schemeClr val="dk2"/>
                </a:solidFill>
              </a:rPr>
              <a:t>花店老板的委托</a:t>
            </a:r>
            <a:endParaRPr sz="1802">
              <a:solidFill>
                <a:schemeClr val="dk2"/>
              </a:solidFill>
            </a:endParaRPr>
          </a:p>
        </p:txBody>
      </p:sp>
      <p:sp>
        <p:nvSpPr>
          <p:cNvPr id="915" name="Google Shape;915;p45"/>
          <p:cNvSpPr/>
          <p:nvPr/>
        </p:nvSpPr>
        <p:spPr>
          <a:xfrm>
            <a:off x="3760170" y="2154422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16" name="Google Shape;916;p45"/>
          <p:cNvSpPr txBox="1"/>
          <p:nvPr/>
        </p:nvSpPr>
        <p:spPr>
          <a:xfrm>
            <a:off x="3419275" y="2338013"/>
            <a:ext cx="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17" name="Google Shape;917;p45"/>
          <p:cNvSpPr txBox="1"/>
          <p:nvPr/>
        </p:nvSpPr>
        <p:spPr>
          <a:xfrm>
            <a:off x="2770199" y="2905488"/>
            <a:ext cx="18000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需要在花店内提交物品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918" name="Google Shape;918;p45"/>
          <p:cNvSpPr txBox="1"/>
          <p:nvPr/>
        </p:nvSpPr>
        <p:spPr>
          <a:xfrm>
            <a:off x="4455875" y="4552650"/>
            <a:ext cx="19728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rgbClr val="F8FAFD"/>
                </a:solidFill>
              </a:rPr>
              <a:t>店主的委托比较特殊</a:t>
            </a:r>
            <a:endParaRPr sz="1124">
              <a:solidFill>
                <a:srgbClr val="F8FAF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rgbClr val="F8FAFD"/>
                </a:solidFill>
              </a:rPr>
              <a:t>必须在店内拖动放置物品</a:t>
            </a:r>
            <a:endParaRPr sz="1124">
              <a:solidFill>
                <a:srgbClr val="F8FAF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6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924" name="Google Shape;924;p46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925" name="Google Shape;925;p46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926" name="Google Shape;926;p46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927" name="Google Shape;927;p46" title="flowersto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581" y="0"/>
            <a:ext cx="7510420" cy="42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6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6" title="flower-he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2125" y="-347738"/>
            <a:ext cx="2179200" cy="4560526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46"/>
          <p:cNvSpPr/>
          <p:nvPr/>
        </p:nvSpPr>
        <p:spPr>
          <a:xfrm>
            <a:off x="3900700" y="3473950"/>
            <a:ext cx="3880500" cy="738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6"/>
          <p:cNvSpPr txBox="1"/>
          <p:nvPr/>
        </p:nvSpPr>
        <p:spPr>
          <a:xfrm>
            <a:off x="5078925" y="3541175"/>
            <a:ext cx="17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……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32" name="Google Shape;932;p46"/>
          <p:cNvSpPr/>
          <p:nvPr/>
        </p:nvSpPr>
        <p:spPr>
          <a:xfrm>
            <a:off x="7781200" y="142767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货架</a:t>
            </a:r>
            <a:endParaRPr sz="1000"/>
          </a:p>
        </p:txBody>
      </p:sp>
      <p:sp>
        <p:nvSpPr>
          <p:cNvPr id="933" name="Google Shape;933;p46"/>
          <p:cNvSpPr/>
          <p:nvPr/>
        </p:nvSpPr>
        <p:spPr>
          <a:xfrm>
            <a:off x="7781200" y="2143325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离开</a:t>
            </a:r>
            <a:endParaRPr sz="1000"/>
          </a:p>
        </p:txBody>
      </p:sp>
      <p:sp>
        <p:nvSpPr>
          <p:cNvPr id="934" name="Google Shape;934;p46"/>
          <p:cNvSpPr/>
          <p:nvPr/>
        </p:nvSpPr>
        <p:spPr>
          <a:xfrm>
            <a:off x="7781200" y="178550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聊天</a:t>
            </a:r>
            <a:endParaRPr sz="1000"/>
          </a:p>
        </p:txBody>
      </p:sp>
      <p:sp>
        <p:nvSpPr>
          <p:cNvPr id="935" name="Google Shape;935;p46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花店老板的委托</a:t>
            </a:r>
            <a:endParaRPr sz="1200"/>
          </a:p>
        </p:txBody>
      </p:sp>
      <p:sp>
        <p:nvSpPr>
          <p:cNvPr id="936" name="Google Shape;936;p46"/>
          <p:cNvSpPr/>
          <p:nvPr/>
        </p:nvSpPr>
        <p:spPr>
          <a:xfrm>
            <a:off x="1997400" y="607502"/>
            <a:ext cx="3495600" cy="2661900"/>
          </a:xfrm>
          <a:prstGeom prst="rect">
            <a:avLst/>
          </a:prstGeom>
          <a:solidFill>
            <a:schemeClr val="lt2"/>
          </a:solidFill>
          <a:ln cap="flat" cmpd="sng" w="10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0"/>
          </a:p>
        </p:txBody>
      </p:sp>
      <p:sp>
        <p:nvSpPr>
          <p:cNvPr id="937" name="Google Shape;937;p46"/>
          <p:cNvSpPr txBox="1"/>
          <p:nvPr/>
        </p:nvSpPr>
        <p:spPr>
          <a:xfrm>
            <a:off x="2135536" y="1093546"/>
            <a:ext cx="32193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875" lIns="101875" spcFirstLastPara="1" rIns="101875" wrap="square" tIns="10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24">
                <a:solidFill>
                  <a:schemeClr val="dk2"/>
                </a:solidFill>
              </a:rPr>
              <a:t>向日葵先生没有说话，只是指了指自己的脖颈——或者说，绿色的茎。我看到那里长出了细小的白花。他想摘掉它们，还是任其生长？</a:t>
            </a:r>
            <a:endParaRPr sz="1124">
              <a:solidFill>
                <a:schemeClr val="dk2"/>
              </a:solidFill>
            </a:endParaRPr>
          </a:p>
        </p:txBody>
      </p:sp>
      <p:sp>
        <p:nvSpPr>
          <p:cNvPr id="938" name="Google Shape;938;p46"/>
          <p:cNvSpPr/>
          <p:nvPr/>
        </p:nvSpPr>
        <p:spPr>
          <a:xfrm>
            <a:off x="2910720" y="1835847"/>
            <a:ext cx="641400" cy="7365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39" name="Google Shape;939;p46"/>
          <p:cNvSpPr txBox="1"/>
          <p:nvPr/>
        </p:nvSpPr>
        <p:spPr>
          <a:xfrm>
            <a:off x="5228880" y="584825"/>
            <a:ext cx="321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75" lIns="73275" spcFirstLastPara="1" rIns="73275" wrap="square" tIns="73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43">
                <a:solidFill>
                  <a:schemeClr val="dk2"/>
                </a:solidFill>
              </a:rPr>
              <a:t>X</a:t>
            </a:r>
            <a:endParaRPr b="1" sz="1443">
              <a:solidFill>
                <a:schemeClr val="dk2"/>
              </a:solidFill>
            </a:endParaRPr>
          </a:p>
        </p:txBody>
      </p:sp>
      <p:sp>
        <p:nvSpPr>
          <p:cNvPr id="940" name="Google Shape;940;p46"/>
          <p:cNvSpPr txBox="1"/>
          <p:nvPr/>
        </p:nvSpPr>
        <p:spPr>
          <a:xfrm>
            <a:off x="2857625" y="674725"/>
            <a:ext cx="23196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100" lIns="127100" spcFirstLastPara="1" rIns="127100" wrap="square" tIns="12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2">
                <a:solidFill>
                  <a:schemeClr val="dk2"/>
                </a:solidFill>
              </a:rPr>
              <a:t>花店老板的委托</a:t>
            </a:r>
            <a:endParaRPr sz="1802">
              <a:solidFill>
                <a:schemeClr val="dk2"/>
              </a:solidFill>
            </a:endParaRPr>
          </a:p>
        </p:txBody>
      </p:sp>
      <p:sp>
        <p:nvSpPr>
          <p:cNvPr id="941" name="Google Shape;941;p46"/>
          <p:cNvSpPr/>
          <p:nvPr/>
        </p:nvSpPr>
        <p:spPr>
          <a:xfrm>
            <a:off x="3900700" y="1835848"/>
            <a:ext cx="641400" cy="8856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2"/>
          </a:p>
        </p:txBody>
      </p:sp>
      <p:sp>
        <p:nvSpPr>
          <p:cNvPr id="942" name="Google Shape;942;p46"/>
          <p:cNvSpPr txBox="1"/>
          <p:nvPr/>
        </p:nvSpPr>
        <p:spPr>
          <a:xfrm>
            <a:off x="3559800" y="2019450"/>
            <a:ext cx="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or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43" name="Google Shape;943;p46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44" name="Google Shape;94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46"/>
          <p:cNvSpPr/>
          <p:nvPr/>
        </p:nvSpPr>
        <p:spPr>
          <a:xfrm>
            <a:off x="2757600" y="180255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剪刀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46" name="Google Shape;946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9988" y="189048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6"/>
          <p:cNvSpPr/>
          <p:nvPr/>
        </p:nvSpPr>
        <p:spPr>
          <a:xfrm>
            <a:off x="3387400" y="2857850"/>
            <a:ext cx="595296" cy="237384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确认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7"/>
          <p:cNvSpPr txBox="1"/>
          <p:nvPr/>
        </p:nvSpPr>
        <p:spPr>
          <a:xfrm>
            <a:off x="4572000" y="2121750"/>
            <a:ext cx="154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下一天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48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48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48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960" name="Google Shape;960;p48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961" name="Google Shape;961;p48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962" name="Google Shape;962;p48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63" name="Google Shape;963;p48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48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48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6" name="Google Shape;966;p48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48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8" name="Google Shape;96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48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48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72" name="Google Shape;972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48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4" name="Google Shape;974;p48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8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/>
              <a:t>下一天</a:t>
            </a:r>
            <a:endParaRPr b="1" sz="1800"/>
          </a:p>
        </p:txBody>
      </p:sp>
      <p:pic>
        <p:nvPicPr>
          <p:cNvPr id="977" name="Google Shape;977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5450" y="4662025"/>
            <a:ext cx="307475" cy="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49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49" title="bag-he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9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小女孩的委托</a:t>
            </a:r>
            <a:endParaRPr/>
          </a:p>
        </p:txBody>
      </p:sp>
      <p:sp>
        <p:nvSpPr>
          <p:cNvPr id="985" name="Google Shape;985;p49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照顾自己</a:t>
            </a:r>
            <a:endParaRPr/>
          </a:p>
        </p:txBody>
      </p:sp>
      <p:sp>
        <p:nvSpPr>
          <p:cNvPr id="986" name="Google Shape;986;p49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老鼠的委托</a:t>
            </a:r>
            <a:endParaRPr/>
          </a:p>
        </p:txBody>
      </p:sp>
      <p:sp>
        <p:nvSpPr>
          <p:cNvPr id="987" name="Google Shape;987;p49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49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49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1" name="Google Shape;991;p49" title="icons8-arrow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49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3" name="Google Shape;99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49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5" name="Google Shape;99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49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薯条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97" name="Google Shape;99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49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向日葵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0" name="Google Shape;1000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49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00"/>
              <a:t>下一天</a:t>
            </a:r>
            <a:endParaRPr b="1" sz="1800"/>
          </a:p>
        </p:txBody>
      </p:sp>
      <p:sp>
        <p:nvSpPr>
          <p:cNvPr id="1002" name="Google Shape;1002;p49"/>
          <p:cNvSpPr/>
          <p:nvPr/>
        </p:nvSpPr>
        <p:spPr>
          <a:xfrm>
            <a:off x="3175175" y="758802"/>
            <a:ext cx="4361400" cy="2884200"/>
          </a:xfrm>
          <a:prstGeom prst="rect">
            <a:avLst/>
          </a:prstGeom>
          <a:solidFill>
            <a:schemeClr val="lt2"/>
          </a:solidFill>
          <a:ln cap="flat" cmpd="sng" w="13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100" lIns="127100" spcFirstLastPara="1" rIns="127100" wrap="square" tIns="12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46"/>
              <a:t>确认离开商场？</a:t>
            </a:r>
            <a:endParaRPr sz="1946"/>
          </a:p>
        </p:txBody>
      </p:sp>
      <p:sp>
        <p:nvSpPr>
          <p:cNvPr id="1003" name="Google Shape;1003;p49"/>
          <p:cNvSpPr/>
          <p:nvPr/>
        </p:nvSpPr>
        <p:spPr>
          <a:xfrm>
            <a:off x="4365725" y="2993300"/>
            <a:ext cx="918486" cy="401112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确认</a:t>
            </a:r>
            <a:endParaRPr/>
          </a:p>
        </p:txBody>
      </p:sp>
      <p:sp>
        <p:nvSpPr>
          <p:cNvPr id="1004" name="Google Shape;1004;p49"/>
          <p:cNvSpPr/>
          <p:nvPr/>
        </p:nvSpPr>
        <p:spPr>
          <a:xfrm>
            <a:off x="5510225" y="2993300"/>
            <a:ext cx="918486" cy="401112"/>
          </a:xfrm>
          <a:prstGeom prst="flowChartTerminator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取消</a:t>
            </a:r>
            <a:endParaRPr/>
          </a:p>
        </p:txBody>
      </p:sp>
      <p:pic>
        <p:nvPicPr>
          <p:cNvPr id="1005" name="Google Shape;1005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8975" y="3335525"/>
            <a:ext cx="307475" cy="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0"/>
          <p:cNvSpPr txBox="1"/>
          <p:nvPr/>
        </p:nvSpPr>
        <p:spPr>
          <a:xfrm>
            <a:off x="4572000" y="2121750"/>
            <a:ext cx="1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结算界面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1"/>
          <p:cNvSpPr/>
          <p:nvPr/>
        </p:nvSpPr>
        <p:spPr>
          <a:xfrm>
            <a:off x="1812000" y="497175"/>
            <a:ext cx="5520000" cy="236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6" name="Google Shape;1016;p51" title="bag-he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775" y="890262"/>
            <a:ext cx="2040433" cy="197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51"/>
          <p:cNvSpPr txBox="1"/>
          <p:nvPr/>
        </p:nvSpPr>
        <p:spPr>
          <a:xfrm>
            <a:off x="2557850" y="342382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2"/>
                </a:solidFill>
              </a:rPr>
              <a:t>鲜柠檬，酒精的气味，你伴随着气泡的噼啪声入睡。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18" name="Google Shape;1018;p51"/>
          <p:cNvSpPr txBox="1"/>
          <p:nvPr/>
        </p:nvSpPr>
        <p:spPr>
          <a:xfrm>
            <a:off x="2557850" y="388552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2"/>
                </a:solidFill>
              </a:rPr>
              <a:t>幻想+1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钱：20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020" name="Google Shape;102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250" y="2340900"/>
            <a:ext cx="4617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51"/>
          <p:cNvSpPr txBox="1"/>
          <p:nvPr/>
        </p:nvSpPr>
        <p:spPr>
          <a:xfrm>
            <a:off x="6024175" y="4347225"/>
            <a:ext cx="308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备注：主角4属性怎么ui呈现，还没想好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52"/>
          <p:cNvSpPr/>
          <p:nvPr/>
        </p:nvSpPr>
        <p:spPr>
          <a:xfrm>
            <a:off x="1812000" y="497175"/>
            <a:ext cx="5520000" cy="236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52"/>
          <p:cNvSpPr txBox="1"/>
          <p:nvPr/>
        </p:nvSpPr>
        <p:spPr>
          <a:xfrm>
            <a:off x="2557850" y="3367800"/>
            <a:ext cx="563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</a:rPr>
              <a:t>鱼缸</a:t>
            </a:r>
            <a:r>
              <a:rPr lang="zh-CN">
                <a:solidFill>
                  <a:schemeClr val="lt2"/>
                </a:solidFill>
              </a:rPr>
              <a:t>女孩对你带来的薯条赞不绝口，并</a:t>
            </a:r>
            <a:r>
              <a:rPr lang="zh-CN">
                <a:solidFill>
                  <a:schemeClr val="lt2"/>
                </a:solidFill>
              </a:rPr>
              <a:t>希望</a:t>
            </a:r>
            <a:r>
              <a:rPr lang="zh-CN">
                <a:solidFill>
                  <a:schemeClr val="lt2"/>
                </a:solidFill>
              </a:rPr>
              <a:t>你</a:t>
            </a:r>
            <a:r>
              <a:rPr lang="zh-CN">
                <a:solidFill>
                  <a:schemeClr val="lt2"/>
                </a:solidFill>
              </a:rPr>
              <a:t>下次能带一包番茄酱。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28" name="Google Shape;1028;p52"/>
          <p:cNvSpPr txBox="1"/>
          <p:nvPr/>
        </p:nvSpPr>
        <p:spPr>
          <a:xfrm>
            <a:off x="2557850" y="3885525"/>
            <a:ext cx="563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</a:rPr>
              <a:t>收到了12块钱！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029" name="Google Shape;102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463" y="802063"/>
            <a:ext cx="1757524" cy="175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52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lt1"/>
                </a:solidFill>
              </a:rPr>
              <a:t>钱：32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