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b71581d2_2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6b71581d2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b71581d2_2_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f6b71581d2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6b71581d2_2_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f6b71581d2_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6b71581d2_2_2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f6b71581d2_2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6b71581d2_2_2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f6b71581d2_2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6b71581d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6b71581d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10" Type="http://schemas.openxmlformats.org/officeDocument/2006/relationships/image" Target="../media/image4.png"/><Relationship Id="rId9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4.png"/><Relationship Id="rId13" Type="http://schemas.openxmlformats.org/officeDocument/2006/relationships/image" Target="../media/image3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15" Type="http://schemas.openxmlformats.org/officeDocument/2006/relationships/image" Target="../media/image11.png"/><Relationship Id="rId1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4.png"/><Relationship Id="rId13" Type="http://schemas.openxmlformats.org/officeDocument/2006/relationships/image" Target="../media/image3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15" Type="http://schemas.openxmlformats.org/officeDocument/2006/relationships/image" Target="../media/image11.png"/><Relationship Id="rId1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4.png"/><Relationship Id="rId13" Type="http://schemas.openxmlformats.org/officeDocument/2006/relationships/image" Target="../media/image3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14" Type="http://schemas.openxmlformats.org/officeDocument/2006/relationships/image" Target="../media/image1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小女孩的委托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5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照顾自己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5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老鼠的委托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C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钱：20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5"/>
          <p:cNvSpPr/>
          <p:nvPr/>
        </p:nvSpPr>
        <p:spPr>
          <a:xfrm>
            <a:off x="28336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25" title="icons8-arrow-5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2911938" y="90161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5"/>
          <p:cNvSpPr/>
          <p:nvPr/>
        </p:nvSpPr>
        <p:spPr>
          <a:xfrm>
            <a:off x="2833600" y="2264700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5" title="icons8-arrow-5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2911938" y="23430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5"/>
          <p:cNvSpPr/>
          <p:nvPr/>
        </p:nvSpPr>
        <p:spPr>
          <a:xfrm>
            <a:off x="64287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0236" y="944801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5"/>
          <p:cNvSpPr/>
          <p:nvPr/>
        </p:nvSpPr>
        <p:spPr>
          <a:xfrm>
            <a:off x="6494200" y="2343038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5736" y="2464563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5"/>
          <p:cNvSpPr/>
          <p:nvPr/>
        </p:nvSpPr>
        <p:spPr>
          <a:xfrm>
            <a:off x="1572275" y="13825"/>
            <a:ext cx="7571700" cy="41145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5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薯条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5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向日葵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5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zh-C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可乐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5"/>
          <p:cNvSpPr/>
          <p:nvPr/>
        </p:nvSpPr>
        <p:spPr>
          <a:xfrm>
            <a:off x="0" y="214332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C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花店老板的委托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6525" y="4588375"/>
            <a:ext cx="307475" cy="30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5" title="bag-head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5"/>
          <p:cNvSpPr txBox="1"/>
          <p:nvPr/>
        </p:nvSpPr>
        <p:spPr>
          <a:xfrm>
            <a:off x="3829275" y="65827"/>
            <a:ext cx="58928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zh-CN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袋中之色/购物袋之脑（合成台）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74023" y="4265877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5"/>
          <p:cNvSpPr txBox="1"/>
          <p:nvPr/>
        </p:nvSpPr>
        <p:spPr>
          <a:xfrm>
            <a:off x="1862525" y="901613"/>
            <a:ext cx="6115050" cy="2647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这个背景图感觉应该是“意识之海”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比较超现实的表现方法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和其他场景风格尽量一致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从剧情上来说：主角的脑袋可以合成新的东西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利用物品为原料，佐以自己的想象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例如，隔离区内没有玫瑰，但主角将一朵康乃馨放到袋中，佐以足够的遐思（烛5），就可以将康乃馨变成玫瑰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5"/>
          <p:cNvSpPr/>
          <p:nvPr/>
        </p:nvSpPr>
        <p:spPr>
          <a:xfrm>
            <a:off x="129575" y="3839200"/>
            <a:ext cx="1240800" cy="124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下一天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6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6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小女孩的委托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6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照顾自己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6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老鼠的委托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6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C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钱：20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6"/>
          <p:cNvSpPr/>
          <p:nvPr/>
        </p:nvSpPr>
        <p:spPr>
          <a:xfrm>
            <a:off x="28336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26" title="icons8-arrow-5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2911938" y="90161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/>
          <p:nvPr/>
        </p:nvSpPr>
        <p:spPr>
          <a:xfrm>
            <a:off x="2833600" y="2264700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6" title="icons8-arrow-5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2911938" y="23430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/>
          <p:nvPr/>
        </p:nvSpPr>
        <p:spPr>
          <a:xfrm>
            <a:off x="64287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0236" y="944801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/>
          <p:nvPr/>
        </p:nvSpPr>
        <p:spPr>
          <a:xfrm>
            <a:off x="6494200" y="2343038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5736" y="2464563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6"/>
          <p:cNvSpPr/>
          <p:nvPr/>
        </p:nvSpPr>
        <p:spPr>
          <a:xfrm>
            <a:off x="1572275" y="13825"/>
            <a:ext cx="7571700" cy="41145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薯条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向日葵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zh-C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可乐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/>
          <p:nvPr/>
        </p:nvSpPr>
        <p:spPr>
          <a:xfrm>
            <a:off x="0" y="214332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C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花店老板的委托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6525" y="4588375"/>
            <a:ext cx="307475" cy="30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 title="bag-head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74023" y="4265877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6"/>
          <p:cNvSpPr/>
          <p:nvPr/>
        </p:nvSpPr>
        <p:spPr>
          <a:xfrm>
            <a:off x="3224550" y="3091294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安逸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6"/>
          <p:cNvSpPr/>
          <p:nvPr/>
        </p:nvSpPr>
        <p:spPr>
          <a:xfrm>
            <a:off x="129575" y="3839200"/>
            <a:ext cx="1240800" cy="124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下一天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87987" y="3216033"/>
            <a:ext cx="385026" cy="38502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/>
          <p:nvPr/>
        </p:nvSpPr>
        <p:spPr>
          <a:xfrm>
            <a:off x="4157650" y="3091294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遐思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2226425" y="1222334"/>
            <a:ext cx="1684153" cy="1629532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5090750" y="3091294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追忆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6023850" y="3091294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清明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2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360313" y="3244170"/>
            <a:ext cx="306574" cy="30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32638" y="3276725"/>
            <a:ext cx="228125" cy="22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261113" y="3254345"/>
            <a:ext cx="272886" cy="27288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/>
          <p:nvPr/>
        </p:nvSpPr>
        <p:spPr>
          <a:xfrm>
            <a:off x="7624675" y="1402900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燃料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只有1个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6992462" y="3032332"/>
            <a:ext cx="2057400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主角的四个属性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随着选择而积累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只能点击一个，被点击的高亮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6"/>
          <p:cNvSpPr/>
          <p:nvPr/>
        </p:nvSpPr>
        <p:spPr>
          <a:xfrm>
            <a:off x="4322400" y="1291917"/>
            <a:ext cx="2057400" cy="507492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7108300" y="1117759"/>
            <a:ext cx="1684153" cy="1629532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2694900" y="1545663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原料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只有1个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6"/>
          <p:cNvSpPr/>
          <p:nvPr/>
        </p:nvSpPr>
        <p:spPr>
          <a:xfrm>
            <a:off x="4117850" y="277531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6"/>
          <p:cNvSpPr/>
          <p:nvPr/>
        </p:nvSpPr>
        <p:spPr>
          <a:xfrm>
            <a:off x="4944179" y="1376267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2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83854" y="1415954"/>
            <a:ext cx="221250" cy="2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/>
          <p:nvPr/>
        </p:nvSpPr>
        <p:spPr>
          <a:xfrm>
            <a:off x="4522400" y="1376267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flipH="1">
            <a:off x="4583900" y="1415955"/>
            <a:ext cx="228125" cy="2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/>
          <p:nvPr/>
        </p:nvSpPr>
        <p:spPr>
          <a:xfrm>
            <a:off x="4588725" y="277531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28400" y="317218"/>
            <a:ext cx="221250" cy="2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6"/>
          <p:cNvSpPr txBox="1"/>
          <p:nvPr/>
        </p:nvSpPr>
        <p:spPr>
          <a:xfrm>
            <a:off x="5230908" y="1338233"/>
            <a:ext cx="311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C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4329425" y="1957071"/>
            <a:ext cx="2057400" cy="507492"/>
          </a:xfrm>
          <a:prstGeom prst="flowChartTerminator">
            <a:avLst/>
          </a:prstGeom>
          <a:solidFill>
            <a:srgbClr val="7F7F7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4951204" y="2050406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4529425" y="2050406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2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flipH="1">
            <a:off x="4590925" y="2090094"/>
            <a:ext cx="228125" cy="2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6"/>
          <p:cNvSpPr txBox="1"/>
          <p:nvPr/>
        </p:nvSpPr>
        <p:spPr>
          <a:xfrm>
            <a:off x="5237933" y="2012372"/>
            <a:ext cx="311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C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4922648" y="250306"/>
            <a:ext cx="311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C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5358125" y="126994"/>
            <a:ext cx="4076700" cy="8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C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预览袋中的属性总和：居中用图标展示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C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原料提供基础属性和性相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C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燃料只提供性相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C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下方主角能力提供性相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2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90892" y="2096755"/>
            <a:ext cx="228125" cy="2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 txBox="1"/>
          <p:nvPr/>
        </p:nvSpPr>
        <p:spPr>
          <a:xfrm>
            <a:off x="5386480" y="1338233"/>
            <a:ext cx="72910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C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午夜玫瑰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3675550" y="277531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4274022" y="2405494"/>
            <a:ext cx="258517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C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中间是基于袋中属性，潜在的产物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C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如果数值不够，则灰色，不显示产物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C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若多个可合成，需点击选择；可滚动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2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159961" y="317219"/>
            <a:ext cx="228125" cy="22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flipH="1">
            <a:off x="3752612" y="317219"/>
            <a:ext cx="228125" cy="2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 txBox="1"/>
          <p:nvPr/>
        </p:nvSpPr>
        <p:spPr>
          <a:xfrm>
            <a:off x="4363375" y="250306"/>
            <a:ext cx="311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C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7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小女孩的委托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7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照顾自己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老鼠的委托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7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C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钱：20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7"/>
          <p:cNvSpPr/>
          <p:nvPr/>
        </p:nvSpPr>
        <p:spPr>
          <a:xfrm>
            <a:off x="28336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27" title="icons8-arrow-5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2911938" y="90161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7"/>
          <p:cNvSpPr/>
          <p:nvPr/>
        </p:nvSpPr>
        <p:spPr>
          <a:xfrm>
            <a:off x="2833600" y="2264700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27" title="icons8-arrow-5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2911938" y="23430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7"/>
          <p:cNvSpPr/>
          <p:nvPr/>
        </p:nvSpPr>
        <p:spPr>
          <a:xfrm>
            <a:off x="64287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0236" y="944801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7"/>
          <p:cNvSpPr/>
          <p:nvPr/>
        </p:nvSpPr>
        <p:spPr>
          <a:xfrm>
            <a:off x="6494200" y="2343038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5736" y="2464563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7"/>
          <p:cNvSpPr/>
          <p:nvPr/>
        </p:nvSpPr>
        <p:spPr>
          <a:xfrm>
            <a:off x="1572275" y="13825"/>
            <a:ext cx="7571700" cy="41145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薯条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向日葵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zh-C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可乐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7"/>
          <p:cNvSpPr/>
          <p:nvPr/>
        </p:nvSpPr>
        <p:spPr>
          <a:xfrm>
            <a:off x="0" y="214332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C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花店老板的委托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6525" y="4588375"/>
            <a:ext cx="307475" cy="30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7" title="bag-head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74023" y="4265877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7"/>
          <p:cNvSpPr/>
          <p:nvPr/>
        </p:nvSpPr>
        <p:spPr>
          <a:xfrm>
            <a:off x="3224550" y="3091294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安逸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129575" y="3839200"/>
            <a:ext cx="1240800" cy="124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下一天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87987" y="3216033"/>
            <a:ext cx="385026" cy="385022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/>
          <p:nvPr/>
        </p:nvSpPr>
        <p:spPr>
          <a:xfrm>
            <a:off x="4157650" y="3091294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遐思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7"/>
          <p:cNvSpPr/>
          <p:nvPr/>
        </p:nvSpPr>
        <p:spPr>
          <a:xfrm>
            <a:off x="2226425" y="1222334"/>
            <a:ext cx="1684153" cy="1629532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5090750" y="3091294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追忆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7"/>
          <p:cNvSpPr/>
          <p:nvPr/>
        </p:nvSpPr>
        <p:spPr>
          <a:xfrm>
            <a:off x="6023850" y="3091294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清明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360313" y="3244170"/>
            <a:ext cx="306574" cy="30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32638" y="3276725"/>
            <a:ext cx="228125" cy="22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261113" y="3254345"/>
            <a:ext cx="272886" cy="27288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7"/>
          <p:cNvSpPr/>
          <p:nvPr/>
        </p:nvSpPr>
        <p:spPr>
          <a:xfrm>
            <a:off x="7624675" y="1402900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燃料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只有1个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4322400" y="1291917"/>
            <a:ext cx="2057400" cy="507492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7108300" y="1117759"/>
            <a:ext cx="1684153" cy="1629532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2694900" y="1545663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原料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只有1个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7"/>
          <p:cNvSpPr/>
          <p:nvPr/>
        </p:nvSpPr>
        <p:spPr>
          <a:xfrm>
            <a:off x="4907902" y="168225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7"/>
          <p:cNvSpPr/>
          <p:nvPr/>
        </p:nvSpPr>
        <p:spPr>
          <a:xfrm>
            <a:off x="4944179" y="1376267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83854" y="1415954"/>
            <a:ext cx="221250" cy="2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7"/>
          <p:cNvSpPr/>
          <p:nvPr/>
        </p:nvSpPr>
        <p:spPr>
          <a:xfrm>
            <a:off x="4522400" y="1376267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2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flipH="1">
            <a:off x="4583900" y="1415955"/>
            <a:ext cx="228125" cy="2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7"/>
          <p:cNvSpPr/>
          <p:nvPr/>
        </p:nvSpPr>
        <p:spPr>
          <a:xfrm>
            <a:off x="5358125" y="174106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Google Shape;236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418452" y="207912"/>
            <a:ext cx="221250" cy="2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7"/>
          <p:cNvSpPr txBox="1"/>
          <p:nvPr/>
        </p:nvSpPr>
        <p:spPr>
          <a:xfrm>
            <a:off x="5230908" y="1338233"/>
            <a:ext cx="311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C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4329425" y="1957071"/>
            <a:ext cx="2057400" cy="507492"/>
          </a:xfrm>
          <a:prstGeom prst="flowChartTerminator">
            <a:avLst/>
          </a:prstGeom>
          <a:solidFill>
            <a:srgbClr val="7F7F7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4951204" y="2050406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4529425" y="2050406"/>
            <a:ext cx="307500" cy="30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2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flipH="1">
            <a:off x="4590925" y="2090094"/>
            <a:ext cx="228125" cy="2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7"/>
          <p:cNvSpPr txBox="1"/>
          <p:nvPr/>
        </p:nvSpPr>
        <p:spPr>
          <a:xfrm>
            <a:off x="5237933" y="2012372"/>
            <a:ext cx="311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C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7"/>
          <p:cNvSpPr txBox="1"/>
          <p:nvPr/>
        </p:nvSpPr>
        <p:spPr>
          <a:xfrm>
            <a:off x="5712700" y="141000"/>
            <a:ext cx="311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C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2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90892" y="2096755"/>
            <a:ext cx="228125" cy="22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7"/>
          <p:cNvSpPr txBox="1"/>
          <p:nvPr/>
        </p:nvSpPr>
        <p:spPr>
          <a:xfrm>
            <a:off x="5386480" y="1338233"/>
            <a:ext cx="729104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C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午夜玫瑰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7"/>
          <p:cNvSpPr/>
          <p:nvPr/>
        </p:nvSpPr>
        <p:spPr>
          <a:xfrm>
            <a:off x="4463291" y="168225"/>
            <a:ext cx="309811" cy="30981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2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947702" y="207913"/>
            <a:ext cx="230436" cy="230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flipH="1">
            <a:off x="4540353" y="207913"/>
            <a:ext cx="230436" cy="23043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7"/>
          <p:cNvSpPr txBox="1"/>
          <p:nvPr/>
        </p:nvSpPr>
        <p:spPr>
          <a:xfrm>
            <a:off x="5153427" y="141000"/>
            <a:ext cx="311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C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6606000" y="0"/>
            <a:ext cx="2538000" cy="1005900"/>
          </a:xfrm>
          <a:prstGeom prst="rect">
            <a:avLst/>
          </a:prstGeom>
          <a:solidFill>
            <a:srgbClr val="000000">
              <a:alpha val="57647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7157079" y="57616"/>
            <a:ext cx="23050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zh-C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午夜玫瑰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zh-C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被折断在冰冷的街角。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2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 flipH="1">
            <a:off x="6696946" y="171149"/>
            <a:ext cx="520265" cy="52026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7"/>
          <p:cNvSpPr txBox="1"/>
          <p:nvPr/>
        </p:nvSpPr>
        <p:spPr>
          <a:xfrm>
            <a:off x="4117850" y="2520754"/>
            <a:ext cx="40767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C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产物只显示文字，但点击后右上角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C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正常给介绍，等同于点击卡牌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4836925" y="676029"/>
            <a:ext cx="1003398" cy="507492"/>
          </a:xfrm>
          <a:prstGeom prst="flowChartTermina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合成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7"/>
          <p:cNvSpPr txBox="1"/>
          <p:nvPr/>
        </p:nvSpPr>
        <p:spPr>
          <a:xfrm>
            <a:off x="2838128" y="581491"/>
            <a:ext cx="19367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C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选中产物后，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C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出现右上角的介绍，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C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以及合成按钮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"/>
          <p:cNvSpPr txBox="1"/>
          <p:nvPr/>
        </p:nvSpPr>
        <p:spPr>
          <a:xfrm>
            <a:off x="2073656" y="1257694"/>
            <a:ext cx="56388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CN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用黑屏，逐行显示（不是打字机，是每句整体淡入，竖着排版），描述物品合成的文案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9" title="map.png"/>
          <p:cNvPicPr preferRelativeResize="0"/>
          <p:nvPr/>
        </p:nvPicPr>
        <p:blipFill rotWithShape="1">
          <a:blip r:embed="rId3">
            <a:alphaModFix/>
          </a:blip>
          <a:srcRect b="0" l="0" r="4571" t="9116"/>
          <a:stretch/>
        </p:blipFill>
        <p:spPr>
          <a:xfrm>
            <a:off x="1567750" y="0"/>
            <a:ext cx="7576249" cy="407419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9"/>
          <p:cNvSpPr/>
          <p:nvPr/>
        </p:nvSpPr>
        <p:spPr>
          <a:xfrm>
            <a:off x="0" y="9297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小女孩的委托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9"/>
          <p:cNvSpPr/>
          <p:nvPr/>
        </p:nvSpPr>
        <p:spPr>
          <a:xfrm>
            <a:off x="0" y="13308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照顾自己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9"/>
          <p:cNvSpPr/>
          <p:nvPr/>
        </p:nvSpPr>
        <p:spPr>
          <a:xfrm>
            <a:off x="0" y="173197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老鼠的委托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9"/>
          <p:cNvSpPr txBox="1"/>
          <p:nvPr/>
        </p:nvSpPr>
        <p:spPr>
          <a:xfrm>
            <a:off x="126500" y="669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C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钱：20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9"/>
          <p:cNvSpPr/>
          <p:nvPr/>
        </p:nvSpPr>
        <p:spPr>
          <a:xfrm>
            <a:off x="28336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29" title="icons8-arrow-5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2911938" y="901613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9"/>
          <p:cNvSpPr/>
          <p:nvPr/>
        </p:nvSpPr>
        <p:spPr>
          <a:xfrm>
            <a:off x="2833600" y="2264700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29" title="icons8-arrow-5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2911938" y="2343038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9"/>
          <p:cNvSpPr/>
          <p:nvPr/>
        </p:nvSpPr>
        <p:spPr>
          <a:xfrm>
            <a:off x="6428700" y="823275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0236" y="944801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9"/>
          <p:cNvSpPr/>
          <p:nvPr/>
        </p:nvSpPr>
        <p:spPr>
          <a:xfrm>
            <a:off x="6494200" y="2343038"/>
            <a:ext cx="614100" cy="614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5736" y="2464563"/>
            <a:ext cx="371025" cy="37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1572275" y="13825"/>
            <a:ext cx="7571700" cy="41145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9"/>
          <p:cNvSpPr/>
          <p:nvPr/>
        </p:nvSpPr>
        <p:spPr>
          <a:xfrm>
            <a:off x="2910725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薯条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50850" y="4265875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9"/>
          <p:cNvSpPr/>
          <p:nvPr/>
        </p:nvSpPr>
        <p:spPr>
          <a:xfrm>
            <a:off x="342820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向日葵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2" name="Google Shape;28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08775" y="4314725"/>
            <a:ext cx="441000" cy="44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9"/>
          <p:cNvSpPr/>
          <p:nvPr/>
        </p:nvSpPr>
        <p:spPr>
          <a:xfrm>
            <a:off x="4117850" y="4224600"/>
            <a:ext cx="802200" cy="91890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zh-C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可乐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0" y="2143325"/>
            <a:ext cx="1392300" cy="4011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C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花店老板的委托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96525" y="4588375"/>
            <a:ext cx="307475" cy="30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9" title="bag-head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67525" y="3473952"/>
            <a:ext cx="1725550" cy="166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274023" y="4265877"/>
            <a:ext cx="489850" cy="48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9"/>
          <p:cNvSpPr/>
          <p:nvPr/>
        </p:nvSpPr>
        <p:spPr>
          <a:xfrm>
            <a:off x="3224550" y="3091294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安逸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9"/>
          <p:cNvSpPr/>
          <p:nvPr/>
        </p:nvSpPr>
        <p:spPr>
          <a:xfrm>
            <a:off x="129575" y="3839200"/>
            <a:ext cx="1240800" cy="1249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下一天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387987" y="3216033"/>
            <a:ext cx="385026" cy="385022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9"/>
          <p:cNvSpPr/>
          <p:nvPr/>
        </p:nvSpPr>
        <p:spPr>
          <a:xfrm>
            <a:off x="4157650" y="3091294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遐思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9"/>
          <p:cNvSpPr/>
          <p:nvPr/>
        </p:nvSpPr>
        <p:spPr>
          <a:xfrm>
            <a:off x="2226425" y="1222334"/>
            <a:ext cx="1684153" cy="1629532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9"/>
          <p:cNvSpPr/>
          <p:nvPr/>
        </p:nvSpPr>
        <p:spPr>
          <a:xfrm>
            <a:off x="5090750" y="3091294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追忆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9"/>
          <p:cNvSpPr/>
          <p:nvPr/>
        </p:nvSpPr>
        <p:spPr>
          <a:xfrm>
            <a:off x="6023850" y="3091294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清明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360313" y="3244170"/>
            <a:ext cx="306574" cy="30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332638" y="3276725"/>
            <a:ext cx="228125" cy="22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261113" y="3254345"/>
            <a:ext cx="272886" cy="27288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9"/>
          <p:cNvSpPr/>
          <p:nvPr/>
        </p:nvSpPr>
        <p:spPr>
          <a:xfrm>
            <a:off x="7252125" y="1491222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燃料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只有1个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6735750" y="1206081"/>
            <a:ext cx="1684153" cy="1629532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2694900" y="1545663"/>
            <a:ext cx="711900" cy="918900"/>
          </a:xfrm>
          <a:prstGeom prst="rect">
            <a:avLst/>
          </a:prstGeom>
          <a:solidFill>
            <a:schemeClr val="lt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原料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t/>
            </a:r>
            <a:endParaRPr b="0" i="0" sz="112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只有1个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4846439" y="1473075"/>
            <a:ext cx="711900" cy="918900"/>
          </a:xfrm>
          <a:prstGeom prst="rect">
            <a:avLst/>
          </a:prstGeom>
          <a:solidFill>
            <a:srgbClr val="4C4242"/>
          </a:solidFill>
          <a:ln cap="flat" cmpd="sng" w="22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75" lIns="73275" spcFirstLastPara="1" rIns="73275" wrap="square" tIns="73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产物卡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2"/>
              <a:buFont typeface="Arial"/>
              <a:buNone/>
            </a:pPr>
            <a:r>
              <a:rPr b="0" i="0" lang="zh-CN" sz="1122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背面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9"/>
          <p:cNvSpPr txBox="1"/>
          <p:nvPr/>
        </p:nvSpPr>
        <p:spPr>
          <a:xfrm>
            <a:off x="4230400" y="2484460"/>
            <a:ext cx="2454179" cy="5231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C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点击翻面，然后可拖动到下方物品槽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C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若退出界面，直接加入物品槽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9"/>
          <p:cNvSpPr txBox="1"/>
          <p:nvPr/>
        </p:nvSpPr>
        <p:spPr>
          <a:xfrm>
            <a:off x="1987038" y="615975"/>
            <a:ext cx="2374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C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只保留槽位，物品卡消失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9"/>
          <p:cNvSpPr txBox="1"/>
          <p:nvPr/>
        </p:nvSpPr>
        <p:spPr>
          <a:xfrm>
            <a:off x="6776575" y="648650"/>
            <a:ext cx="2374900" cy="3492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zh-C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只保留槽位，物品卡消失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/>
          <p:nvPr/>
        </p:nvSpPr>
        <p:spPr>
          <a:xfrm>
            <a:off x="165175" y="661375"/>
            <a:ext cx="1994700" cy="23553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0"/>
          <p:cNvSpPr/>
          <p:nvPr/>
        </p:nvSpPr>
        <p:spPr>
          <a:xfrm>
            <a:off x="4433075" y="1376325"/>
            <a:ext cx="2928000" cy="21303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0"/>
          <p:cNvSpPr/>
          <p:nvPr/>
        </p:nvSpPr>
        <p:spPr>
          <a:xfrm>
            <a:off x="4043613" y="3955925"/>
            <a:ext cx="1068900" cy="5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个人性相</a:t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2582563" y="3955925"/>
            <a:ext cx="1068900" cy="5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合成</a:t>
            </a:r>
            <a:endParaRPr/>
          </a:p>
        </p:txBody>
      </p:sp>
      <p:cxnSp>
        <p:nvCxnSpPr>
          <p:cNvPr id="313" name="Google Shape;313;p30"/>
          <p:cNvCxnSpPr>
            <a:stCxn id="311" idx="1"/>
            <a:endCxn id="312" idx="3"/>
          </p:cNvCxnSpPr>
          <p:nvPr/>
        </p:nvCxnSpPr>
        <p:spPr>
          <a:xfrm rot="10800000">
            <a:off x="3651513" y="4234325"/>
            <a:ext cx="392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" name="Google Shape;314;p30"/>
          <p:cNvSpPr/>
          <p:nvPr/>
        </p:nvSpPr>
        <p:spPr>
          <a:xfrm>
            <a:off x="4664200" y="2606600"/>
            <a:ext cx="1068900" cy="64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自我委托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700">
                <a:solidFill>
                  <a:schemeClr val="dk1"/>
                </a:solidFill>
              </a:rPr>
              <a:t>同性相要求的性相数值越来越高，因此从普通到高价到高级/合成</a:t>
            </a:r>
            <a:endParaRPr/>
          </a:p>
        </p:txBody>
      </p:sp>
      <p:sp>
        <p:nvSpPr>
          <p:cNvPr id="315" name="Google Shape;315;p30"/>
          <p:cNvSpPr/>
          <p:nvPr/>
        </p:nvSpPr>
        <p:spPr>
          <a:xfrm>
            <a:off x="5908938" y="4315150"/>
            <a:ext cx="1068900" cy="5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特殊委托的选择</a:t>
            </a:r>
            <a:endParaRPr/>
          </a:p>
        </p:txBody>
      </p:sp>
      <p:cxnSp>
        <p:nvCxnSpPr>
          <p:cNvPr id="316" name="Google Shape;316;p30"/>
          <p:cNvCxnSpPr>
            <a:stCxn id="314" idx="2"/>
            <a:endCxn id="311" idx="0"/>
          </p:cNvCxnSpPr>
          <p:nvPr/>
        </p:nvCxnSpPr>
        <p:spPr>
          <a:xfrm flipH="1">
            <a:off x="4577950" y="3253100"/>
            <a:ext cx="620700" cy="702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30"/>
          <p:cNvCxnSpPr>
            <a:stCxn id="315" idx="1"/>
            <a:endCxn id="311" idx="3"/>
          </p:cNvCxnSpPr>
          <p:nvPr/>
        </p:nvCxnSpPr>
        <p:spPr>
          <a:xfrm rot="10800000">
            <a:off x="5112438" y="4234450"/>
            <a:ext cx="796500" cy="359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8" name="Google Shape;318;p30"/>
          <p:cNvSpPr txBox="1"/>
          <p:nvPr/>
        </p:nvSpPr>
        <p:spPr>
          <a:xfrm>
            <a:off x="3758463" y="3209825"/>
            <a:ext cx="76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鼓励均衡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性相越高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升级越难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19" name="Google Shape;319;p30"/>
          <p:cNvSpPr txBox="1"/>
          <p:nvPr/>
        </p:nvSpPr>
        <p:spPr>
          <a:xfrm>
            <a:off x="7066225" y="4270300"/>
            <a:ext cx="185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正反馈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提供什么性相的物品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加强什么性相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在这条性相线上继续走下去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554563" y="1547325"/>
            <a:ext cx="1068900" cy="5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普通商品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solidFill>
                  <a:schemeClr val="dk1"/>
                </a:solidFill>
              </a:rPr>
              <a:t>初始即可购买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700">
                <a:solidFill>
                  <a:schemeClr val="dk1"/>
                </a:solidFill>
              </a:rPr>
              <a:t>性相低，有基础属性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554576" y="819650"/>
            <a:ext cx="1125600" cy="5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高级商品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/>
              <a:t>完成店主委托解锁购买</a:t>
            </a:r>
            <a:endParaRPr sz="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/>
              <a:t>性相高，有特殊属性、稀有基础属性</a:t>
            </a:r>
            <a:endParaRPr sz="700"/>
          </a:p>
        </p:txBody>
      </p:sp>
      <p:sp>
        <p:nvSpPr>
          <p:cNvPr id="322" name="Google Shape;322;p30"/>
          <p:cNvSpPr/>
          <p:nvPr/>
        </p:nvSpPr>
        <p:spPr>
          <a:xfrm>
            <a:off x="528776" y="2275000"/>
            <a:ext cx="1177200" cy="5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合成商品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solidFill>
                  <a:schemeClr val="dk1"/>
                </a:solidFill>
              </a:rPr>
              <a:t>只能合成得到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700">
                <a:solidFill>
                  <a:schemeClr val="dk1"/>
                </a:solidFill>
              </a:rPr>
              <a:t>不可再合成 有特殊属性</a:t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323" name="Google Shape;323;p30"/>
          <p:cNvCxnSpPr>
            <a:stCxn id="312" idx="1"/>
            <a:endCxn id="322" idx="2"/>
          </p:cNvCxnSpPr>
          <p:nvPr/>
        </p:nvCxnSpPr>
        <p:spPr>
          <a:xfrm rot="10800000">
            <a:off x="1117363" y="2831825"/>
            <a:ext cx="1465200" cy="1402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30"/>
          <p:cNvCxnSpPr>
            <a:stCxn id="320" idx="3"/>
            <a:endCxn id="312" idx="0"/>
          </p:cNvCxnSpPr>
          <p:nvPr/>
        </p:nvCxnSpPr>
        <p:spPr>
          <a:xfrm>
            <a:off x="1623463" y="1825725"/>
            <a:ext cx="1493700" cy="2130300"/>
          </a:xfrm>
          <a:prstGeom prst="bentConnector2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5" name="Google Shape;325;p30"/>
          <p:cNvCxnSpPr>
            <a:stCxn id="321" idx="3"/>
            <a:endCxn id="312" idx="0"/>
          </p:cNvCxnSpPr>
          <p:nvPr/>
        </p:nvCxnSpPr>
        <p:spPr>
          <a:xfrm>
            <a:off x="1680176" y="1098050"/>
            <a:ext cx="1436700" cy="2857800"/>
          </a:xfrm>
          <a:prstGeom prst="bentConnector2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6" name="Google Shape;326;p30"/>
          <p:cNvSpPr/>
          <p:nvPr/>
        </p:nvSpPr>
        <p:spPr>
          <a:xfrm>
            <a:off x="4632025" y="1547325"/>
            <a:ext cx="1068900" cy="70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日常委托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700">
                <a:solidFill>
                  <a:schemeClr val="dk1"/>
                </a:solidFill>
              </a:rPr>
              <a:t>订单上有明确数额算赚不赚 要求属性和性相，而不是具体物品</a:t>
            </a:r>
            <a:endParaRPr sz="1100"/>
          </a:p>
        </p:txBody>
      </p:sp>
      <p:sp>
        <p:nvSpPr>
          <p:cNvPr id="327" name="Google Shape;327;p30"/>
          <p:cNvSpPr/>
          <p:nvPr/>
        </p:nvSpPr>
        <p:spPr>
          <a:xfrm>
            <a:off x="6091875" y="2606600"/>
            <a:ext cx="1125600" cy="64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特殊委托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solidFill>
                  <a:schemeClr val="dk1"/>
                </a:solidFill>
              </a:rPr>
              <a:t>要求都是具体合成商品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700">
                <a:solidFill>
                  <a:schemeClr val="dk1"/>
                </a:solidFill>
              </a:rPr>
              <a:t>可以放不同的性相的同类物品做选择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6091875" y="1527725"/>
            <a:ext cx="1125600" cy="70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解锁店铺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/>
              <a:t>解锁后可反复拜访</a:t>
            </a:r>
            <a:endParaRPr sz="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00">
                <a:solidFill>
                  <a:schemeClr val="dk1"/>
                </a:solidFill>
              </a:rPr>
              <a:t>要求属性和性相，或具体物品</a:t>
            </a:r>
            <a:endParaRPr sz="800"/>
          </a:p>
        </p:txBody>
      </p:sp>
      <p:cxnSp>
        <p:nvCxnSpPr>
          <p:cNvPr id="329" name="Google Shape;329;p30"/>
          <p:cNvCxnSpPr>
            <a:stCxn id="327" idx="3"/>
          </p:cNvCxnSpPr>
          <p:nvPr/>
        </p:nvCxnSpPr>
        <p:spPr>
          <a:xfrm flipH="1" rot="10800000">
            <a:off x="7217475" y="2571050"/>
            <a:ext cx="830100" cy="358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30"/>
          <p:cNvCxnSpPr>
            <a:stCxn id="327" idx="3"/>
            <a:endCxn id="331" idx="1"/>
          </p:cNvCxnSpPr>
          <p:nvPr/>
        </p:nvCxnSpPr>
        <p:spPr>
          <a:xfrm>
            <a:off x="7217475" y="2929850"/>
            <a:ext cx="590400" cy="554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" name="Google Shape;332;p30"/>
          <p:cNvSpPr/>
          <p:nvPr/>
        </p:nvSpPr>
        <p:spPr>
          <a:xfrm>
            <a:off x="7807938" y="2329575"/>
            <a:ext cx="1068900" cy="5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剧情委托</a:t>
            </a:r>
            <a:endParaRPr/>
          </a:p>
        </p:txBody>
      </p:sp>
      <p:sp>
        <p:nvSpPr>
          <p:cNvPr id="331" name="Google Shape;331;p30"/>
          <p:cNvSpPr/>
          <p:nvPr/>
        </p:nvSpPr>
        <p:spPr>
          <a:xfrm>
            <a:off x="7807938" y="3205575"/>
            <a:ext cx="1068900" cy="5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店主委托</a:t>
            </a:r>
            <a:endParaRPr/>
          </a:p>
        </p:txBody>
      </p:sp>
      <p:cxnSp>
        <p:nvCxnSpPr>
          <p:cNvPr id="333" name="Google Shape;333;p30"/>
          <p:cNvCxnSpPr>
            <a:stCxn id="311" idx="3"/>
            <a:endCxn id="327" idx="2"/>
          </p:cNvCxnSpPr>
          <p:nvPr/>
        </p:nvCxnSpPr>
        <p:spPr>
          <a:xfrm flipH="1" rot="10800000">
            <a:off x="5112513" y="3253025"/>
            <a:ext cx="1542300" cy="981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" name="Google Shape;334;p30"/>
          <p:cNvSpPr txBox="1"/>
          <p:nvPr/>
        </p:nvSpPr>
        <p:spPr>
          <a:xfrm>
            <a:off x="5100950" y="3506625"/>
            <a:ext cx="76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性相数值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接取条件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2582574" y="2908525"/>
            <a:ext cx="49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原料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燃料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651474" y="4315150"/>
            <a:ext cx="49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佐以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37" name="Google Shape;337;p30"/>
          <p:cNvSpPr txBox="1"/>
          <p:nvPr/>
        </p:nvSpPr>
        <p:spPr>
          <a:xfrm>
            <a:off x="45200" y="3856325"/>
            <a:ext cx="26358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凑性相值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例如5烛，8镜，不同级别的产物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一个原料提供基础属性（例如玩具；食物）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一到多个原料仅提供性相</a:t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338" name="Google Shape;338;p30"/>
          <p:cNvCxnSpPr>
            <a:stCxn id="327" idx="2"/>
            <a:endCxn id="315" idx="0"/>
          </p:cNvCxnSpPr>
          <p:nvPr/>
        </p:nvCxnSpPr>
        <p:spPr>
          <a:xfrm flipH="1">
            <a:off x="6443475" y="3253100"/>
            <a:ext cx="211200" cy="1062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9" name="Google Shape;339;p30"/>
          <p:cNvCxnSpPr>
            <a:endCxn id="310" idx="1"/>
          </p:cNvCxnSpPr>
          <p:nvPr/>
        </p:nvCxnSpPr>
        <p:spPr>
          <a:xfrm>
            <a:off x="2186375" y="2438475"/>
            <a:ext cx="2246700" cy="3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" name="Google Shape;340;p30"/>
          <p:cNvSpPr txBox="1"/>
          <p:nvPr/>
        </p:nvSpPr>
        <p:spPr>
          <a:xfrm>
            <a:off x="917275" y="310075"/>
            <a:ext cx="49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物品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41" name="Google Shape;341;p30"/>
          <p:cNvSpPr txBox="1"/>
          <p:nvPr/>
        </p:nvSpPr>
        <p:spPr>
          <a:xfrm>
            <a:off x="5651825" y="1037625"/>
            <a:ext cx="49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委托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42" name="Google Shape;342;p30"/>
          <p:cNvSpPr/>
          <p:nvPr/>
        </p:nvSpPr>
        <p:spPr>
          <a:xfrm>
            <a:off x="7807938" y="1526700"/>
            <a:ext cx="1068900" cy="5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结局</a:t>
            </a:r>
            <a:endParaRPr/>
          </a:p>
        </p:txBody>
      </p:sp>
      <p:cxnSp>
        <p:nvCxnSpPr>
          <p:cNvPr id="343" name="Google Shape;343;p30"/>
          <p:cNvCxnSpPr>
            <a:stCxn id="332" idx="0"/>
            <a:endCxn id="342" idx="2"/>
          </p:cNvCxnSpPr>
          <p:nvPr/>
        </p:nvCxnSpPr>
        <p:spPr>
          <a:xfrm rot="10800000">
            <a:off x="8342388" y="2083575"/>
            <a:ext cx="0" cy="246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4" name="Google Shape;344;p30"/>
          <p:cNvSpPr/>
          <p:nvPr/>
        </p:nvSpPr>
        <p:spPr>
          <a:xfrm>
            <a:off x="3605313" y="538025"/>
            <a:ext cx="1068900" cy="55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钱</a:t>
            </a:r>
            <a:endParaRPr sz="1000"/>
          </a:p>
        </p:txBody>
      </p:sp>
      <p:cxnSp>
        <p:nvCxnSpPr>
          <p:cNvPr id="345" name="Google Shape;345;p30"/>
          <p:cNvCxnSpPr>
            <a:stCxn id="344" idx="1"/>
          </p:cNvCxnSpPr>
          <p:nvPr/>
        </p:nvCxnSpPr>
        <p:spPr>
          <a:xfrm rot="10800000">
            <a:off x="2163813" y="806525"/>
            <a:ext cx="1441500" cy="9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30"/>
          <p:cNvCxnSpPr>
            <a:stCxn id="326" idx="0"/>
            <a:endCxn id="344" idx="2"/>
          </p:cNvCxnSpPr>
          <p:nvPr/>
        </p:nvCxnSpPr>
        <p:spPr>
          <a:xfrm rot="10800000">
            <a:off x="4139875" y="1094925"/>
            <a:ext cx="1026600" cy="452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p30"/>
          <p:cNvCxnSpPr>
            <a:stCxn id="326" idx="3"/>
            <a:endCxn id="327" idx="1"/>
          </p:cNvCxnSpPr>
          <p:nvPr/>
        </p:nvCxnSpPr>
        <p:spPr>
          <a:xfrm>
            <a:off x="5700925" y="1898775"/>
            <a:ext cx="390900" cy="1031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8" name="Google Shape;348;p30"/>
          <p:cNvSpPr txBox="1"/>
          <p:nvPr/>
        </p:nvSpPr>
        <p:spPr>
          <a:xfrm>
            <a:off x="5863550" y="2195163"/>
            <a:ext cx="102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完成系列任务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接取条件</a:t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349" name="Google Shape;349;p30"/>
          <p:cNvCxnSpPr>
            <a:stCxn id="331" idx="0"/>
            <a:endCxn id="332" idx="2"/>
          </p:cNvCxnSpPr>
          <p:nvPr/>
        </p:nvCxnSpPr>
        <p:spPr>
          <a:xfrm rot="10800000">
            <a:off x="8342388" y="2886375"/>
            <a:ext cx="0" cy="319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0" name="Google Shape;350;p30"/>
          <p:cNvSpPr txBox="1"/>
          <p:nvPr/>
        </p:nvSpPr>
        <p:spPr>
          <a:xfrm>
            <a:off x="8429800" y="2908525"/>
            <a:ext cx="49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影响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5651825" y="249725"/>
            <a:ext cx="1068900" cy="702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初始资金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每7天打钱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/>
              <a:t>剧情奖励</a:t>
            </a:r>
            <a:endParaRPr sz="1200"/>
          </a:p>
        </p:txBody>
      </p:sp>
      <p:cxnSp>
        <p:nvCxnSpPr>
          <p:cNvPr id="352" name="Google Shape;352;p30"/>
          <p:cNvCxnSpPr>
            <a:stCxn id="351" idx="1"/>
            <a:endCxn id="344" idx="3"/>
          </p:cNvCxnSpPr>
          <p:nvPr/>
        </p:nvCxnSpPr>
        <p:spPr>
          <a:xfrm flipH="1">
            <a:off x="4674125" y="601175"/>
            <a:ext cx="977700" cy="215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3" name="Google Shape;353;p30"/>
          <p:cNvSpPr txBox="1"/>
          <p:nvPr/>
        </p:nvSpPr>
        <p:spPr>
          <a:xfrm>
            <a:off x="1407775" y="72800"/>
            <a:ext cx="245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属性：金属，玩具，食物，书 无数值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特殊属性：物品名（例如剪刀） 无数值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>
                <a:solidFill>
                  <a:schemeClr val="lt1"/>
                </a:solidFill>
              </a:rPr>
              <a:t>性相：灯、镜、枕、烛 有数值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